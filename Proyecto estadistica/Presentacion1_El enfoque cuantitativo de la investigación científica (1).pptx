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4"/>
  </p:sldMasterIdLst>
  <p:notesMasterIdLst>
    <p:notesMasterId r:id="rId16"/>
  </p:notesMasterIdLst>
  <p:sldIdLst>
    <p:sldId id="262" r:id="rId5"/>
    <p:sldId id="263" r:id="rId6"/>
    <p:sldId id="270" r:id="rId7"/>
    <p:sldId id="271" r:id="rId8"/>
    <p:sldId id="273" r:id="rId9"/>
    <p:sldId id="274" r:id="rId10"/>
    <p:sldId id="259" r:id="rId11"/>
    <p:sldId id="275" r:id="rId12"/>
    <p:sldId id="276" r:id="rId13"/>
    <p:sldId id="277" r:id="rId14"/>
    <p:sldId id="278" r:id="rId15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#3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087B99-9A80-4869-8B28-A8394429989B}" type="doc">
      <dgm:prSet loTypeId="urn:microsoft.com/office/officeart/2018/2/layout/IconVerticalSolidList" loCatId="icon" qsTypeId="urn:microsoft.com/office/officeart/2005/8/quickstyle/simple1#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9DD347B-3B1B-4674-9DC6-2471A6E357C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CR" sz="2400" dirty="0"/>
            <a:t>Familiarizarme con las palabras clave, las definiciones y la terminología que se usa en mi campo de estudio.</a:t>
          </a:r>
          <a:endParaRPr lang="en-US" sz="2400" dirty="0"/>
        </a:p>
      </dgm:t>
    </dgm:pt>
    <dgm:pt modelId="{392AEBF2-BBAA-402B-B267-D5A5085D77CD}" type="parTrans" cxnId="{38B6483D-D3F6-4AE3-8A75-2899EC54AC0D}">
      <dgm:prSet/>
      <dgm:spPr/>
      <dgm:t>
        <a:bodyPr/>
        <a:lstStyle/>
        <a:p>
          <a:endParaRPr lang="en-US"/>
        </a:p>
      </dgm:t>
    </dgm:pt>
    <dgm:pt modelId="{771B2282-AC36-4484-A01B-1AB9A1D57CE2}" type="sibTrans" cxnId="{38B6483D-D3F6-4AE3-8A75-2899EC54AC0D}">
      <dgm:prSet/>
      <dgm:spPr/>
      <dgm:t>
        <a:bodyPr/>
        <a:lstStyle/>
        <a:p>
          <a:endParaRPr lang="en-US"/>
        </a:p>
      </dgm:t>
    </dgm:pt>
    <dgm:pt modelId="{0A53D8B6-106F-49B3-96BC-E3CCB8CDEB5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CR" sz="2400" dirty="0"/>
            <a:t>Determinar los principales modelos teóricos que se han desarrollado para explicar el fenómeno que me interesa investigar.</a:t>
          </a:r>
          <a:endParaRPr lang="en-US" sz="2400" dirty="0"/>
        </a:p>
      </dgm:t>
    </dgm:pt>
    <dgm:pt modelId="{FF5C3977-F6C6-4B7B-9EF6-3C678C8B7CDF}" type="parTrans" cxnId="{CE2D8A54-F79A-471D-8850-03360E201ADD}">
      <dgm:prSet/>
      <dgm:spPr/>
      <dgm:t>
        <a:bodyPr/>
        <a:lstStyle/>
        <a:p>
          <a:endParaRPr lang="en-US"/>
        </a:p>
      </dgm:t>
    </dgm:pt>
    <dgm:pt modelId="{ECE7BDED-2D0D-4DE3-B79E-C8847CE186E0}" type="sibTrans" cxnId="{CE2D8A54-F79A-471D-8850-03360E201ADD}">
      <dgm:prSet/>
      <dgm:spPr/>
      <dgm:t>
        <a:bodyPr/>
        <a:lstStyle/>
        <a:p>
          <a:endParaRPr lang="en-US"/>
        </a:p>
      </dgm:t>
    </dgm:pt>
    <dgm:pt modelId="{20995F5E-F21F-4B8D-A843-B5153A8B90F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CR" sz="2400" dirty="0"/>
            <a:t>Conocer qué se ha descubierto sobre el fenómeno que quiero estudiar.</a:t>
          </a:r>
          <a:endParaRPr lang="en-US" sz="2400" dirty="0"/>
        </a:p>
      </dgm:t>
    </dgm:pt>
    <dgm:pt modelId="{4278A243-CAFF-443A-8BB4-E1205D8C8F38}" type="parTrans" cxnId="{DF3F7C96-5731-47F1-B0C0-CD8902A553D7}">
      <dgm:prSet/>
      <dgm:spPr/>
      <dgm:t>
        <a:bodyPr/>
        <a:lstStyle/>
        <a:p>
          <a:endParaRPr lang="en-US"/>
        </a:p>
      </dgm:t>
    </dgm:pt>
    <dgm:pt modelId="{DFB67461-1834-4C67-92B8-6B4471369DC8}" type="sibTrans" cxnId="{DF3F7C96-5731-47F1-B0C0-CD8902A553D7}">
      <dgm:prSet/>
      <dgm:spPr/>
      <dgm:t>
        <a:bodyPr/>
        <a:lstStyle/>
        <a:p>
          <a:endParaRPr lang="en-US"/>
        </a:p>
      </dgm:t>
    </dgm:pt>
    <dgm:pt modelId="{70FAC6AD-4C51-43D6-954D-80F122F9AC5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CR" sz="2400" dirty="0"/>
            <a:t>Identificar los métodos más usados para estudiar el fenómeno</a:t>
          </a:r>
          <a:endParaRPr lang="en-US" sz="2400" dirty="0"/>
        </a:p>
      </dgm:t>
    </dgm:pt>
    <dgm:pt modelId="{E10E1842-EE79-4D99-ADD3-7F8DD9FFF12B}" type="parTrans" cxnId="{B586ACEF-DA5A-4121-A3D3-90FA5BE26531}">
      <dgm:prSet/>
      <dgm:spPr/>
      <dgm:t>
        <a:bodyPr/>
        <a:lstStyle/>
        <a:p>
          <a:endParaRPr lang="en-US"/>
        </a:p>
      </dgm:t>
    </dgm:pt>
    <dgm:pt modelId="{065E00CB-415E-4F63-BCD8-28168AFF7E04}" type="sibTrans" cxnId="{B586ACEF-DA5A-4121-A3D3-90FA5BE26531}">
      <dgm:prSet/>
      <dgm:spPr/>
      <dgm:t>
        <a:bodyPr/>
        <a:lstStyle/>
        <a:p>
          <a:endParaRPr lang="en-US"/>
        </a:p>
      </dgm:t>
    </dgm:pt>
    <dgm:pt modelId="{22F31531-F42B-4A5C-A9D6-99D95AF5408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CR" sz="2400" dirty="0"/>
            <a:t>Facilitarme la interpretación de mis resultados </a:t>
          </a:r>
          <a:endParaRPr lang="en-US" sz="2400" dirty="0"/>
        </a:p>
      </dgm:t>
    </dgm:pt>
    <dgm:pt modelId="{29A4AFD9-4752-443F-A190-B7C3D00958C7}" type="parTrans" cxnId="{1F35052C-F48C-4A0C-B2C8-F003710D9366}">
      <dgm:prSet/>
      <dgm:spPr/>
      <dgm:t>
        <a:bodyPr/>
        <a:lstStyle/>
        <a:p>
          <a:endParaRPr lang="en-US"/>
        </a:p>
      </dgm:t>
    </dgm:pt>
    <dgm:pt modelId="{D044E2A5-7A3C-45C4-879F-BEAD59133CE5}" type="sibTrans" cxnId="{1F35052C-F48C-4A0C-B2C8-F003710D9366}">
      <dgm:prSet/>
      <dgm:spPr/>
      <dgm:t>
        <a:bodyPr/>
        <a:lstStyle/>
        <a:p>
          <a:endParaRPr lang="en-US"/>
        </a:p>
      </dgm:t>
    </dgm:pt>
    <dgm:pt modelId="{FF342718-215D-4E26-BE5A-00826D16A0D2}" type="pres">
      <dgm:prSet presAssocID="{9D087B99-9A80-4869-8B28-A8394429989B}" presName="root" presStyleCnt="0">
        <dgm:presLayoutVars>
          <dgm:dir/>
          <dgm:resizeHandles val="exact"/>
        </dgm:presLayoutVars>
      </dgm:prSet>
      <dgm:spPr/>
    </dgm:pt>
    <dgm:pt modelId="{1D6682DA-7504-4D0B-948D-657E63CE25AE}" type="pres">
      <dgm:prSet presAssocID="{39DD347B-3B1B-4674-9DC6-2471A6E357C0}" presName="compNode" presStyleCnt="0"/>
      <dgm:spPr/>
    </dgm:pt>
    <dgm:pt modelId="{F4C634E7-8337-4CFC-97A5-14927F11266F}" type="pres">
      <dgm:prSet presAssocID="{39DD347B-3B1B-4674-9DC6-2471A6E357C0}" presName="bgRect" presStyleLbl="bgShp" presStyleIdx="0" presStyleCnt="5"/>
      <dgm:spPr/>
    </dgm:pt>
    <dgm:pt modelId="{5CDD81DD-013E-4CCD-81E0-2D5F42151B3A}" type="pres">
      <dgm:prSet presAssocID="{39DD347B-3B1B-4674-9DC6-2471A6E357C0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bros"/>
        </a:ext>
      </dgm:extLst>
    </dgm:pt>
    <dgm:pt modelId="{5EA8D877-BD1D-4F48-81C6-2D47C33C1326}" type="pres">
      <dgm:prSet presAssocID="{39DD347B-3B1B-4674-9DC6-2471A6E357C0}" presName="spaceRect" presStyleCnt="0"/>
      <dgm:spPr/>
    </dgm:pt>
    <dgm:pt modelId="{617BC515-D66D-4903-A759-499169182B73}" type="pres">
      <dgm:prSet presAssocID="{39DD347B-3B1B-4674-9DC6-2471A6E357C0}" presName="parTx" presStyleLbl="revTx" presStyleIdx="0" presStyleCnt="5">
        <dgm:presLayoutVars>
          <dgm:chMax val="0"/>
          <dgm:chPref val="0"/>
        </dgm:presLayoutVars>
      </dgm:prSet>
      <dgm:spPr/>
    </dgm:pt>
    <dgm:pt modelId="{341E319E-A517-4939-8264-D0096841792A}" type="pres">
      <dgm:prSet presAssocID="{771B2282-AC36-4484-A01B-1AB9A1D57CE2}" presName="sibTrans" presStyleCnt="0"/>
      <dgm:spPr/>
    </dgm:pt>
    <dgm:pt modelId="{0D77C048-4020-4CE1-BD2A-BF325ABD479B}" type="pres">
      <dgm:prSet presAssocID="{0A53D8B6-106F-49B3-96BC-E3CCB8CDEB5D}" presName="compNode" presStyleCnt="0"/>
      <dgm:spPr/>
    </dgm:pt>
    <dgm:pt modelId="{5CD6D5B2-C546-4571-91B2-2B070281532E}" type="pres">
      <dgm:prSet presAssocID="{0A53D8B6-106F-49B3-96BC-E3CCB8CDEB5D}" presName="bgRect" presStyleLbl="bgShp" presStyleIdx="1" presStyleCnt="5"/>
      <dgm:spPr/>
    </dgm:pt>
    <dgm:pt modelId="{875A060B-DABA-49EB-8B59-1A58D615FE66}" type="pres">
      <dgm:prSet presAssocID="{0A53D8B6-106F-49B3-96BC-E3CCB8CDEB5D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 Bulb and Gear"/>
        </a:ext>
      </dgm:extLst>
    </dgm:pt>
    <dgm:pt modelId="{2DBF843B-8919-4FA6-B58A-A3E5B7927535}" type="pres">
      <dgm:prSet presAssocID="{0A53D8B6-106F-49B3-96BC-E3CCB8CDEB5D}" presName="spaceRect" presStyleCnt="0"/>
      <dgm:spPr/>
    </dgm:pt>
    <dgm:pt modelId="{B8961D4D-A475-43CF-860A-C4629F55CC8D}" type="pres">
      <dgm:prSet presAssocID="{0A53D8B6-106F-49B3-96BC-E3CCB8CDEB5D}" presName="parTx" presStyleLbl="revTx" presStyleIdx="1" presStyleCnt="5">
        <dgm:presLayoutVars>
          <dgm:chMax val="0"/>
          <dgm:chPref val="0"/>
        </dgm:presLayoutVars>
      </dgm:prSet>
      <dgm:spPr/>
    </dgm:pt>
    <dgm:pt modelId="{F549EA0F-A588-448B-8A93-941D871C8B82}" type="pres">
      <dgm:prSet presAssocID="{ECE7BDED-2D0D-4DE3-B79E-C8847CE186E0}" presName="sibTrans" presStyleCnt="0"/>
      <dgm:spPr/>
    </dgm:pt>
    <dgm:pt modelId="{9BB7BB29-29F5-4B3B-A9BC-DA7B49D007CB}" type="pres">
      <dgm:prSet presAssocID="{20995F5E-F21F-4B8D-A843-B5153A8B90FD}" presName="compNode" presStyleCnt="0"/>
      <dgm:spPr/>
    </dgm:pt>
    <dgm:pt modelId="{42624C91-1AE8-4CA3-9EBC-8F9B46C78E32}" type="pres">
      <dgm:prSet presAssocID="{20995F5E-F21F-4B8D-A843-B5153A8B90FD}" presName="bgRect" presStyleLbl="bgShp" presStyleIdx="2" presStyleCnt="5"/>
      <dgm:spPr/>
    </dgm:pt>
    <dgm:pt modelId="{503CDC10-624D-432C-AB91-B63B9BC17F18}" type="pres">
      <dgm:prSet presAssocID="{20995F5E-F21F-4B8D-A843-B5153A8B90FD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io"/>
        </a:ext>
      </dgm:extLst>
    </dgm:pt>
    <dgm:pt modelId="{543FC8EC-DBB3-4EE0-87E0-446B36855629}" type="pres">
      <dgm:prSet presAssocID="{20995F5E-F21F-4B8D-A843-B5153A8B90FD}" presName="spaceRect" presStyleCnt="0"/>
      <dgm:spPr/>
    </dgm:pt>
    <dgm:pt modelId="{02671235-F0E7-41D9-B3C6-15880E6543F9}" type="pres">
      <dgm:prSet presAssocID="{20995F5E-F21F-4B8D-A843-B5153A8B90FD}" presName="parTx" presStyleLbl="revTx" presStyleIdx="2" presStyleCnt="5">
        <dgm:presLayoutVars>
          <dgm:chMax val="0"/>
          <dgm:chPref val="0"/>
        </dgm:presLayoutVars>
      </dgm:prSet>
      <dgm:spPr/>
    </dgm:pt>
    <dgm:pt modelId="{C0674914-79F3-4F01-8652-0094992BEA92}" type="pres">
      <dgm:prSet presAssocID="{DFB67461-1834-4C67-92B8-6B4471369DC8}" presName="sibTrans" presStyleCnt="0"/>
      <dgm:spPr/>
    </dgm:pt>
    <dgm:pt modelId="{A12AACB5-8DA7-4CAE-9646-62CA12F7FD74}" type="pres">
      <dgm:prSet presAssocID="{70FAC6AD-4C51-43D6-954D-80F122F9AC5F}" presName="compNode" presStyleCnt="0"/>
      <dgm:spPr/>
    </dgm:pt>
    <dgm:pt modelId="{D7D2E0DA-E931-44A4-B767-2610BCA9850A}" type="pres">
      <dgm:prSet presAssocID="{70FAC6AD-4C51-43D6-954D-80F122F9AC5F}" presName="bgRect" presStyleLbl="bgShp" presStyleIdx="3" presStyleCnt="5"/>
      <dgm:spPr/>
    </dgm:pt>
    <dgm:pt modelId="{8A0A330C-1CC9-475D-9E8D-3E49A9DC542C}" type="pres">
      <dgm:prSet presAssocID="{70FAC6AD-4C51-43D6-954D-80F122F9AC5F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3D9EF4E7-5D67-4985-971E-1516C987FAB2}" type="pres">
      <dgm:prSet presAssocID="{70FAC6AD-4C51-43D6-954D-80F122F9AC5F}" presName="spaceRect" presStyleCnt="0"/>
      <dgm:spPr/>
    </dgm:pt>
    <dgm:pt modelId="{B4682CF9-F494-4DF8-B974-4DFED423A3DD}" type="pres">
      <dgm:prSet presAssocID="{70FAC6AD-4C51-43D6-954D-80F122F9AC5F}" presName="parTx" presStyleLbl="revTx" presStyleIdx="3" presStyleCnt="5">
        <dgm:presLayoutVars>
          <dgm:chMax val="0"/>
          <dgm:chPref val="0"/>
        </dgm:presLayoutVars>
      </dgm:prSet>
      <dgm:spPr/>
    </dgm:pt>
    <dgm:pt modelId="{0A50CD93-D76E-4158-BD89-3D1EF77B3FEA}" type="pres">
      <dgm:prSet presAssocID="{065E00CB-415E-4F63-BCD8-28168AFF7E04}" presName="sibTrans" presStyleCnt="0"/>
      <dgm:spPr/>
    </dgm:pt>
    <dgm:pt modelId="{99C7DB43-AFEE-4B1E-8ACE-1AB0B2DDAF2E}" type="pres">
      <dgm:prSet presAssocID="{22F31531-F42B-4A5C-A9D6-99D95AF54086}" presName="compNode" presStyleCnt="0"/>
      <dgm:spPr/>
    </dgm:pt>
    <dgm:pt modelId="{09EBE07C-B21C-456D-8C50-C1B271744EA3}" type="pres">
      <dgm:prSet presAssocID="{22F31531-F42B-4A5C-A9D6-99D95AF54086}" presName="bgRect" presStyleLbl="bgShp" presStyleIdx="4" presStyleCnt="5"/>
      <dgm:spPr/>
    </dgm:pt>
    <dgm:pt modelId="{C6DB0ADB-D0E8-45FB-B052-8FBC46457EBA}" type="pres">
      <dgm:prSet presAssocID="{22F31531-F42B-4A5C-A9D6-99D95AF54086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8AF062D7-40EA-4B06-8A15-BEBA619DB0CF}" type="pres">
      <dgm:prSet presAssocID="{22F31531-F42B-4A5C-A9D6-99D95AF54086}" presName="spaceRect" presStyleCnt="0"/>
      <dgm:spPr/>
    </dgm:pt>
    <dgm:pt modelId="{CE263477-41E6-4527-968D-C5951A532F58}" type="pres">
      <dgm:prSet presAssocID="{22F31531-F42B-4A5C-A9D6-99D95AF5408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F1A6E608-2AC2-4CA2-819C-F746C8E05789}" type="presOf" srcId="{20995F5E-F21F-4B8D-A843-B5153A8B90FD}" destId="{02671235-F0E7-41D9-B3C6-15880E6543F9}" srcOrd="0" destOrd="0" presId="urn:microsoft.com/office/officeart/2018/2/layout/IconVerticalSolidList"/>
    <dgm:cxn modelId="{B9AB2914-4988-440D-AD72-1064C15C6D30}" type="presOf" srcId="{22F31531-F42B-4A5C-A9D6-99D95AF54086}" destId="{CE263477-41E6-4527-968D-C5951A532F58}" srcOrd="0" destOrd="0" presId="urn:microsoft.com/office/officeart/2018/2/layout/IconVerticalSolidList"/>
    <dgm:cxn modelId="{8DC5561A-3772-4B8C-AFB1-B88910B8535D}" type="presOf" srcId="{0A53D8B6-106F-49B3-96BC-E3CCB8CDEB5D}" destId="{B8961D4D-A475-43CF-860A-C4629F55CC8D}" srcOrd="0" destOrd="0" presId="urn:microsoft.com/office/officeart/2018/2/layout/IconVerticalSolidList"/>
    <dgm:cxn modelId="{1F35052C-F48C-4A0C-B2C8-F003710D9366}" srcId="{9D087B99-9A80-4869-8B28-A8394429989B}" destId="{22F31531-F42B-4A5C-A9D6-99D95AF54086}" srcOrd="4" destOrd="0" parTransId="{29A4AFD9-4752-443F-A190-B7C3D00958C7}" sibTransId="{D044E2A5-7A3C-45C4-879F-BEAD59133CE5}"/>
    <dgm:cxn modelId="{38B6483D-D3F6-4AE3-8A75-2899EC54AC0D}" srcId="{9D087B99-9A80-4869-8B28-A8394429989B}" destId="{39DD347B-3B1B-4674-9DC6-2471A6E357C0}" srcOrd="0" destOrd="0" parTransId="{392AEBF2-BBAA-402B-B267-D5A5085D77CD}" sibTransId="{771B2282-AC36-4484-A01B-1AB9A1D57CE2}"/>
    <dgm:cxn modelId="{7056115E-EEAF-44D9-AA92-D18E75DE8758}" type="presOf" srcId="{9D087B99-9A80-4869-8B28-A8394429989B}" destId="{FF342718-215D-4E26-BE5A-00826D16A0D2}" srcOrd="0" destOrd="0" presId="urn:microsoft.com/office/officeart/2018/2/layout/IconVerticalSolidList"/>
    <dgm:cxn modelId="{CE2D8A54-F79A-471D-8850-03360E201ADD}" srcId="{9D087B99-9A80-4869-8B28-A8394429989B}" destId="{0A53D8B6-106F-49B3-96BC-E3CCB8CDEB5D}" srcOrd="1" destOrd="0" parTransId="{FF5C3977-F6C6-4B7B-9EF6-3C678C8B7CDF}" sibTransId="{ECE7BDED-2D0D-4DE3-B79E-C8847CE186E0}"/>
    <dgm:cxn modelId="{0D7DF980-40AC-4707-B338-EA50B6B7F045}" type="presOf" srcId="{70FAC6AD-4C51-43D6-954D-80F122F9AC5F}" destId="{B4682CF9-F494-4DF8-B974-4DFED423A3DD}" srcOrd="0" destOrd="0" presId="urn:microsoft.com/office/officeart/2018/2/layout/IconVerticalSolidList"/>
    <dgm:cxn modelId="{DF3F7C96-5731-47F1-B0C0-CD8902A553D7}" srcId="{9D087B99-9A80-4869-8B28-A8394429989B}" destId="{20995F5E-F21F-4B8D-A843-B5153A8B90FD}" srcOrd="2" destOrd="0" parTransId="{4278A243-CAFF-443A-8BB4-E1205D8C8F38}" sibTransId="{DFB67461-1834-4C67-92B8-6B4471369DC8}"/>
    <dgm:cxn modelId="{C70A3DE3-17FA-4031-8A59-3103BF52BF2F}" type="presOf" srcId="{39DD347B-3B1B-4674-9DC6-2471A6E357C0}" destId="{617BC515-D66D-4903-A759-499169182B73}" srcOrd="0" destOrd="0" presId="urn:microsoft.com/office/officeart/2018/2/layout/IconVerticalSolidList"/>
    <dgm:cxn modelId="{B586ACEF-DA5A-4121-A3D3-90FA5BE26531}" srcId="{9D087B99-9A80-4869-8B28-A8394429989B}" destId="{70FAC6AD-4C51-43D6-954D-80F122F9AC5F}" srcOrd="3" destOrd="0" parTransId="{E10E1842-EE79-4D99-ADD3-7F8DD9FFF12B}" sibTransId="{065E00CB-415E-4F63-BCD8-28168AFF7E04}"/>
    <dgm:cxn modelId="{0707712A-9D4B-4F60-A996-D36240AF8514}" type="presParOf" srcId="{FF342718-215D-4E26-BE5A-00826D16A0D2}" destId="{1D6682DA-7504-4D0B-948D-657E63CE25AE}" srcOrd="0" destOrd="0" presId="urn:microsoft.com/office/officeart/2018/2/layout/IconVerticalSolidList"/>
    <dgm:cxn modelId="{9C1FDFA7-BFCD-4D6C-919A-32C1C284B125}" type="presParOf" srcId="{1D6682DA-7504-4D0B-948D-657E63CE25AE}" destId="{F4C634E7-8337-4CFC-97A5-14927F11266F}" srcOrd="0" destOrd="0" presId="urn:microsoft.com/office/officeart/2018/2/layout/IconVerticalSolidList"/>
    <dgm:cxn modelId="{B5BBABFA-B3A7-4B15-95E9-0C26F89D99F7}" type="presParOf" srcId="{1D6682DA-7504-4D0B-948D-657E63CE25AE}" destId="{5CDD81DD-013E-4CCD-81E0-2D5F42151B3A}" srcOrd="1" destOrd="0" presId="urn:microsoft.com/office/officeart/2018/2/layout/IconVerticalSolidList"/>
    <dgm:cxn modelId="{05D097A5-1AF0-47D0-BF29-1ABF8D63A4C7}" type="presParOf" srcId="{1D6682DA-7504-4D0B-948D-657E63CE25AE}" destId="{5EA8D877-BD1D-4F48-81C6-2D47C33C1326}" srcOrd="2" destOrd="0" presId="urn:microsoft.com/office/officeart/2018/2/layout/IconVerticalSolidList"/>
    <dgm:cxn modelId="{1B5C93AA-8C20-4B5E-9726-3CB26A39756A}" type="presParOf" srcId="{1D6682DA-7504-4D0B-948D-657E63CE25AE}" destId="{617BC515-D66D-4903-A759-499169182B73}" srcOrd="3" destOrd="0" presId="urn:microsoft.com/office/officeart/2018/2/layout/IconVerticalSolidList"/>
    <dgm:cxn modelId="{1EA44D04-199C-4906-A4D2-8FDDA0AC7E59}" type="presParOf" srcId="{FF342718-215D-4E26-BE5A-00826D16A0D2}" destId="{341E319E-A517-4939-8264-D0096841792A}" srcOrd="1" destOrd="0" presId="urn:microsoft.com/office/officeart/2018/2/layout/IconVerticalSolidList"/>
    <dgm:cxn modelId="{C0729D42-1C2F-4083-9061-F4E16ABECC55}" type="presParOf" srcId="{FF342718-215D-4E26-BE5A-00826D16A0D2}" destId="{0D77C048-4020-4CE1-BD2A-BF325ABD479B}" srcOrd="2" destOrd="0" presId="urn:microsoft.com/office/officeart/2018/2/layout/IconVerticalSolidList"/>
    <dgm:cxn modelId="{80E68984-08A9-461F-A92D-160C82BADE32}" type="presParOf" srcId="{0D77C048-4020-4CE1-BD2A-BF325ABD479B}" destId="{5CD6D5B2-C546-4571-91B2-2B070281532E}" srcOrd="0" destOrd="0" presId="urn:microsoft.com/office/officeart/2018/2/layout/IconVerticalSolidList"/>
    <dgm:cxn modelId="{E03FEBAB-1D75-4C4C-AACB-1C50795910B1}" type="presParOf" srcId="{0D77C048-4020-4CE1-BD2A-BF325ABD479B}" destId="{875A060B-DABA-49EB-8B59-1A58D615FE66}" srcOrd="1" destOrd="0" presId="urn:microsoft.com/office/officeart/2018/2/layout/IconVerticalSolidList"/>
    <dgm:cxn modelId="{2BD42FA3-97DB-4BCD-A3CC-D7BD6E326F6C}" type="presParOf" srcId="{0D77C048-4020-4CE1-BD2A-BF325ABD479B}" destId="{2DBF843B-8919-4FA6-B58A-A3E5B7927535}" srcOrd="2" destOrd="0" presId="urn:microsoft.com/office/officeart/2018/2/layout/IconVerticalSolidList"/>
    <dgm:cxn modelId="{48127A4A-F91F-472A-9F25-88AB14017FF7}" type="presParOf" srcId="{0D77C048-4020-4CE1-BD2A-BF325ABD479B}" destId="{B8961D4D-A475-43CF-860A-C4629F55CC8D}" srcOrd="3" destOrd="0" presId="urn:microsoft.com/office/officeart/2018/2/layout/IconVerticalSolidList"/>
    <dgm:cxn modelId="{48D31AB4-599A-4DA8-BFED-3C70E8604B54}" type="presParOf" srcId="{FF342718-215D-4E26-BE5A-00826D16A0D2}" destId="{F549EA0F-A588-448B-8A93-941D871C8B82}" srcOrd="3" destOrd="0" presId="urn:microsoft.com/office/officeart/2018/2/layout/IconVerticalSolidList"/>
    <dgm:cxn modelId="{26000C1C-DA9A-406E-82D7-43DDFEE85E8D}" type="presParOf" srcId="{FF342718-215D-4E26-BE5A-00826D16A0D2}" destId="{9BB7BB29-29F5-4B3B-A9BC-DA7B49D007CB}" srcOrd="4" destOrd="0" presId="urn:microsoft.com/office/officeart/2018/2/layout/IconVerticalSolidList"/>
    <dgm:cxn modelId="{C2AE2CB1-A153-46B4-A2EE-CA3A23A636BE}" type="presParOf" srcId="{9BB7BB29-29F5-4B3B-A9BC-DA7B49D007CB}" destId="{42624C91-1AE8-4CA3-9EBC-8F9B46C78E32}" srcOrd="0" destOrd="0" presId="urn:microsoft.com/office/officeart/2018/2/layout/IconVerticalSolidList"/>
    <dgm:cxn modelId="{7F191229-D52E-4C25-8EC4-B1D8D5C60BF9}" type="presParOf" srcId="{9BB7BB29-29F5-4B3B-A9BC-DA7B49D007CB}" destId="{503CDC10-624D-432C-AB91-B63B9BC17F18}" srcOrd="1" destOrd="0" presId="urn:microsoft.com/office/officeart/2018/2/layout/IconVerticalSolidList"/>
    <dgm:cxn modelId="{085A0383-0023-498C-AE55-0BE09C0824A9}" type="presParOf" srcId="{9BB7BB29-29F5-4B3B-A9BC-DA7B49D007CB}" destId="{543FC8EC-DBB3-4EE0-87E0-446B36855629}" srcOrd="2" destOrd="0" presId="urn:microsoft.com/office/officeart/2018/2/layout/IconVerticalSolidList"/>
    <dgm:cxn modelId="{A3ADCAAD-66D8-40BD-98E2-6DDB1D5B1558}" type="presParOf" srcId="{9BB7BB29-29F5-4B3B-A9BC-DA7B49D007CB}" destId="{02671235-F0E7-41D9-B3C6-15880E6543F9}" srcOrd="3" destOrd="0" presId="urn:microsoft.com/office/officeart/2018/2/layout/IconVerticalSolidList"/>
    <dgm:cxn modelId="{F254936E-7858-43FE-A2AC-919B562A04AD}" type="presParOf" srcId="{FF342718-215D-4E26-BE5A-00826D16A0D2}" destId="{C0674914-79F3-4F01-8652-0094992BEA92}" srcOrd="5" destOrd="0" presId="urn:microsoft.com/office/officeart/2018/2/layout/IconVerticalSolidList"/>
    <dgm:cxn modelId="{97400141-7DCD-4697-B2B9-C5A6B872B627}" type="presParOf" srcId="{FF342718-215D-4E26-BE5A-00826D16A0D2}" destId="{A12AACB5-8DA7-4CAE-9646-62CA12F7FD74}" srcOrd="6" destOrd="0" presId="urn:microsoft.com/office/officeart/2018/2/layout/IconVerticalSolidList"/>
    <dgm:cxn modelId="{9B76A206-05FF-4764-BA97-80751D20AB7A}" type="presParOf" srcId="{A12AACB5-8DA7-4CAE-9646-62CA12F7FD74}" destId="{D7D2E0DA-E931-44A4-B767-2610BCA9850A}" srcOrd="0" destOrd="0" presId="urn:microsoft.com/office/officeart/2018/2/layout/IconVerticalSolidList"/>
    <dgm:cxn modelId="{E4CD8A6A-C0D2-451E-BEB6-0EDE7CA2B125}" type="presParOf" srcId="{A12AACB5-8DA7-4CAE-9646-62CA12F7FD74}" destId="{8A0A330C-1CC9-475D-9E8D-3E49A9DC542C}" srcOrd="1" destOrd="0" presId="urn:microsoft.com/office/officeart/2018/2/layout/IconVerticalSolidList"/>
    <dgm:cxn modelId="{4BE33585-3F46-441F-A2F8-122A491557C4}" type="presParOf" srcId="{A12AACB5-8DA7-4CAE-9646-62CA12F7FD74}" destId="{3D9EF4E7-5D67-4985-971E-1516C987FAB2}" srcOrd="2" destOrd="0" presId="urn:microsoft.com/office/officeart/2018/2/layout/IconVerticalSolidList"/>
    <dgm:cxn modelId="{037ED124-A7CA-46A3-8D53-C00D6EE47DEB}" type="presParOf" srcId="{A12AACB5-8DA7-4CAE-9646-62CA12F7FD74}" destId="{B4682CF9-F494-4DF8-B974-4DFED423A3DD}" srcOrd="3" destOrd="0" presId="urn:microsoft.com/office/officeart/2018/2/layout/IconVerticalSolidList"/>
    <dgm:cxn modelId="{C7E15EC0-C2A3-46B8-BFFE-5A1B23C92F1F}" type="presParOf" srcId="{FF342718-215D-4E26-BE5A-00826D16A0D2}" destId="{0A50CD93-D76E-4158-BD89-3D1EF77B3FEA}" srcOrd="7" destOrd="0" presId="urn:microsoft.com/office/officeart/2018/2/layout/IconVerticalSolidList"/>
    <dgm:cxn modelId="{D642289A-C651-48D4-B27E-4FC05A22CF39}" type="presParOf" srcId="{FF342718-215D-4E26-BE5A-00826D16A0D2}" destId="{99C7DB43-AFEE-4B1E-8ACE-1AB0B2DDAF2E}" srcOrd="8" destOrd="0" presId="urn:microsoft.com/office/officeart/2018/2/layout/IconVerticalSolidList"/>
    <dgm:cxn modelId="{A811D99F-1467-4B3E-BDEF-C2DD6D308935}" type="presParOf" srcId="{99C7DB43-AFEE-4B1E-8ACE-1AB0B2DDAF2E}" destId="{09EBE07C-B21C-456D-8C50-C1B271744EA3}" srcOrd="0" destOrd="0" presId="urn:microsoft.com/office/officeart/2018/2/layout/IconVerticalSolidList"/>
    <dgm:cxn modelId="{774C18F2-9754-4822-ACD4-2A79A65F3FF1}" type="presParOf" srcId="{99C7DB43-AFEE-4B1E-8ACE-1AB0B2DDAF2E}" destId="{C6DB0ADB-D0E8-45FB-B052-8FBC46457EBA}" srcOrd="1" destOrd="0" presId="urn:microsoft.com/office/officeart/2018/2/layout/IconVerticalSolidList"/>
    <dgm:cxn modelId="{D33E1CFA-979C-43CF-99F1-DBC967F2AA4C}" type="presParOf" srcId="{99C7DB43-AFEE-4B1E-8ACE-1AB0B2DDAF2E}" destId="{8AF062D7-40EA-4B06-8A15-BEBA619DB0CF}" srcOrd="2" destOrd="0" presId="urn:microsoft.com/office/officeart/2018/2/layout/IconVerticalSolidList"/>
    <dgm:cxn modelId="{7194AC1B-9DD6-4E91-B651-12F189371A54}" type="presParOf" srcId="{99C7DB43-AFEE-4B1E-8ACE-1AB0B2DDAF2E}" destId="{CE263477-41E6-4527-968D-C5951A532F5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9443AFC-F7B6-4347-89C0-C41D8B7398A2}" type="doc">
      <dgm:prSet loTypeId="urn:microsoft.com/office/officeart/2005/8/layout/vList2" loCatId="list" qsTypeId="urn:microsoft.com/office/officeart/2005/8/quickstyle/simple1#6" qsCatId="simple" csTypeId="urn:microsoft.com/office/officeart/2005/8/colors/colorful2#3" csCatId="colorful"/>
      <dgm:spPr/>
      <dgm:t>
        <a:bodyPr/>
        <a:lstStyle/>
        <a:p>
          <a:endParaRPr lang="en-US"/>
        </a:p>
      </dgm:t>
    </dgm:pt>
    <dgm:pt modelId="{3BE2E563-73A9-4173-A2EE-FF574A9EA565}">
      <dgm:prSet/>
      <dgm:spPr/>
      <dgm:t>
        <a:bodyPr/>
        <a:lstStyle/>
        <a:p>
          <a:r>
            <a:rPr lang="es-CR"/>
            <a:t>¿Qué se sabe sobre el tema (teoría)?</a:t>
          </a:r>
          <a:endParaRPr lang="en-US"/>
        </a:p>
      </dgm:t>
    </dgm:pt>
    <dgm:pt modelId="{9ECF04E4-C385-4ABC-9A19-D48A8098DAD0}" type="parTrans" cxnId="{E2D93617-8B53-4CA3-8D70-71C92CA65708}">
      <dgm:prSet/>
      <dgm:spPr/>
      <dgm:t>
        <a:bodyPr/>
        <a:lstStyle/>
        <a:p>
          <a:endParaRPr lang="en-US"/>
        </a:p>
      </dgm:t>
    </dgm:pt>
    <dgm:pt modelId="{45898031-72CA-4F98-B9B4-48F1B999DE08}" type="sibTrans" cxnId="{E2D93617-8B53-4CA3-8D70-71C92CA65708}">
      <dgm:prSet/>
      <dgm:spPr/>
      <dgm:t>
        <a:bodyPr/>
        <a:lstStyle/>
        <a:p>
          <a:endParaRPr lang="en-US"/>
        </a:p>
      </dgm:t>
    </dgm:pt>
    <dgm:pt modelId="{DECCE6BC-6234-4907-87DA-A388DC1C93F3}">
      <dgm:prSet/>
      <dgm:spPr/>
      <dgm:t>
        <a:bodyPr/>
        <a:lstStyle/>
        <a:p>
          <a:r>
            <a:rPr lang="es-CR"/>
            <a:t>¿Cómo se lleva a cabo la investigación sobre el tema (metodología)?</a:t>
          </a:r>
          <a:endParaRPr lang="en-US"/>
        </a:p>
      </dgm:t>
    </dgm:pt>
    <dgm:pt modelId="{747D61C1-E3D5-4BBC-AB2B-8D87FDE78B67}" type="parTrans" cxnId="{EDB77A1E-527A-48D7-B5D4-CA660DAF3EC5}">
      <dgm:prSet/>
      <dgm:spPr/>
      <dgm:t>
        <a:bodyPr/>
        <a:lstStyle/>
        <a:p>
          <a:endParaRPr lang="en-US"/>
        </a:p>
      </dgm:t>
    </dgm:pt>
    <dgm:pt modelId="{1AF5BB75-810F-4F6D-B7BB-B1B1B3A33411}" type="sibTrans" cxnId="{EDB77A1E-527A-48D7-B5D4-CA660DAF3EC5}">
      <dgm:prSet/>
      <dgm:spPr/>
      <dgm:t>
        <a:bodyPr/>
        <a:lstStyle/>
        <a:p>
          <a:endParaRPr lang="en-US"/>
        </a:p>
      </dgm:t>
    </dgm:pt>
    <dgm:pt modelId="{C669B533-28E2-4255-8303-458FC96976ED}">
      <dgm:prSet/>
      <dgm:spPr/>
      <dgm:t>
        <a:bodyPr/>
        <a:lstStyle/>
        <a:p>
          <a:r>
            <a:rPr lang="es-CR"/>
            <a:t>¿Qué falta por investigar (vacíos que mi investigación puede llenar)?</a:t>
          </a:r>
          <a:endParaRPr lang="en-US"/>
        </a:p>
      </dgm:t>
    </dgm:pt>
    <dgm:pt modelId="{C913B042-8784-453C-979F-2BA73CA35893}" type="parTrans" cxnId="{C7B31F0B-A7CC-4162-BB93-0FD5862DF1F7}">
      <dgm:prSet/>
      <dgm:spPr/>
      <dgm:t>
        <a:bodyPr/>
        <a:lstStyle/>
        <a:p>
          <a:endParaRPr lang="en-US"/>
        </a:p>
      </dgm:t>
    </dgm:pt>
    <dgm:pt modelId="{AE611126-47E1-495E-8054-669F8C678F84}" type="sibTrans" cxnId="{C7B31F0B-A7CC-4162-BB93-0FD5862DF1F7}">
      <dgm:prSet/>
      <dgm:spPr/>
      <dgm:t>
        <a:bodyPr/>
        <a:lstStyle/>
        <a:p>
          <a:endParaRPr lang="en-US"/>
        </a:p>
      </dgm:t>
    </dgm:pt>
    <dgm:pt modelId="{D7D5568C-1A36-45BA-A567-24D8897871BB}" type="pres">
      <dgm:prSet presAssocID="{D9443AFC-F7B6-4347-89C0-C41D8B7398A2}" presName="linear" presStyleCnt="0">
        <dgm:presLayoutVars>
          <dgm:animLvl val="lvl"/>
          <dgm:resizeHandles val="exact"/>
        </dgm:presLayoutVars>
      </dgm:prSet>
      <dgm:spPr/>
    </dgm:pt>
    <dgm:pt modelId="{E7EFCCB0-FD99-486B-AAD5-F40A9CF1566F}" type="pres">
      <dgm:prSet presAssocID="{3BE2E563-73A9-4173-A2EE-FF574A9EA56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9047360-F3A6-4D42-84A7-BA603A51C28C}" type="pres">
      <dgm:prSet presAssocID="{45898031-72CA-4F98-B9B4-48F1B999DE08}" presName="spacer" presStyleCnt="0"/>
      <dgm:spPr/>
    </dgm:pt>
    <dgm:pt modelId="{DBE701FB-797A-467C-9606-F7698A883515}" type="pres">
      <dgm:prSet presAssocID="{DECCE6BC-6234-4907-87DA-A388DC1C93F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BE06B88-26AF-43C0-8869-88B6D9ECCA3A}" type="pres">
      <dgm:prSet presAssocID="{1AF5BB75-810F-4F6D-B7BB-B1B1B3A33411}" presName="spacer" presStyleCnt="0"/>
      <dgm:spPr/>
    </dgm:pt>
    <dgm:pt modelId="{D2A4E9AD-EF1F-4B03-B988-0873ED4DF1E0}" type="pres">
      <dgm:prSet presAssocID="{C669B533-28E2-4255-8303-458FC96976E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7B31F0B-A7CC-4162-BB93-0FD5862DF1F7}" srcId="{D9443AFC-F7B6-4347-89C0-C41D8B7398A2}" destId="{C669B533-28E2-4255-8303-458FC96976ED}" srcOrd="2" destOrd="0" parTransId="{C913B042-8784-453C-979F-2BA73CA35893}" sibTransId="{AE611126-47E1-495E-8054-669F8C678F84}"/>
    <dgm:cxn modelId="{E2D93617-8B53-4CA3-8D70-71C92CA65708}" srcId="{D9443AFC-F7B6-4347-89C0-C41D8B7398A2}" destId="{3BE2E563-73A9-4173-A2EE-FF574A9EA565}" srcOrd="0" destOrd="0" parTransId="{9ECF04E4-C385-4ABC-9A19-D48A8098DAD0}" sibTransId="{45898031-72CA-4F98-B9B4-48F1B999DE08}"/>
    <dgm:cxn modelId="{EDB77A1E-527A-48D7-B5D4-CA660DAF3EC5}" srcId="{D9443AFC-F7B6-4347-89C0-C41D8B7398A2}" destId="{DECCE6BC-6234-4907-87DA-A388DC1C93F3}" srcOrd="1" destOrd="0" parTransId="{747D61C1-E3D5-4BBC-AB2B-8D87FDE78B67}" sibTransId="{1AF5BB75-810F-4F6D-B7BB-B1B1B3A33411}"/>
    <dgm:cxn modelId="{EA9C9E8B-BDD5-418B-8D79-B61DDD0A9F40}" type="presOf" srcId="{C669B533-28E2-4255-8303-458FC96976ED}" destId="{D2A4E9AD-EF1F-4B03-B988-0873ED4DF1E0}" srcOrd="0" destOrd="0" presId="urn:microsoft.com/office/officeart/2005/8/layout/vList2"/>
    <dgm:cxn modelId="{7411729F-D856-4CE9-952E-EAAC24A1C5C0}" type="presOf" srcId="{3BE2E563-73A9-4173-A2EE-FF574A9EA565}" destId="{E7EFCCB0-FD99-486B-AAD5-F40A9CF1566F}" srcOrd="0" destOrd="0" presId="urn:microsoft.com/office/officeart/2005/8/layout/vList2"/>
    <dgm:cxn modelId="{D5F559BD-80AD-453A-8DAD-F685B68FB59F}" type="presOf" srcId="{DECCE6BC-6234-4907-87DA-A388DC1C93F3}" destId="{DBE701FB-797A-467C-9606-F7698A883515}" srcOrd="0" destOrd="0" presId="urn:microsoft.com/office/officeart/2005/8/layout/vList2"/>
    <dgm:cxn modelId="{602320E5-E5B6-4AB1-AFDD-5B046DF56FE3}" type="presOf" srcId="{D9443AFC-F7B6-4347-89C0-C41D8B7398A2}" destId="{D7D5568C-1A36-45BA-A567-24D8897871BB}" srcOrd="0" destOrd="0" presId="urn:microsoft.com/office/officeart/2005/8/layout/vList2"/>
    <dgm:cxn modelId="{11A1FADC-A45B-4471-9A42-B210A88B3ABE}" type="presParOf" srcId="{D7D5568C-1A36-45BA-A567-24D8897871BB}" destId="{E7EFCCB0-FD99-486B-AAD5-F40A9CF1566F}" srcOrd="0" destOrd="0" presId="urn:microsoft.com/office/officeart/2005/8/layout/vList2"/>
    <dgm:cxn modelId="{80F08EA0-718A-4AF6-8519-74C8F9024F59}" type="presParOf" srcId="{D7D5568C-1A36-45BA-A567-24D8897871BB}" destId="{49047360-F3A6-4D42-84A7-BA603A51C28C}" srcOrd="1" destOrd="0" presId="urn:microsoft.com/office/officeart/2005/8/layout/vList2"/>
    <dgm:cxn modelId="{408BCE5D-997D-4F0D-AD13-E3B2AC01A239}" type="presParOf" srcId="{D7D5568C-1A36-45BA-A567-24D8897871BB}" destId="{DBE701FB-797A-467C-9606-F7698A883515}" srcOrd="2" destOrd="0" presId="urn:microsoft.com/office/officeart/2005/8/layout/vList2"/>
    <dgm:cxn modelId="{8E12267D-6B55-4153-B35E-BFFC659DA3D6}" type="presParOf" srcId="{D7D5568C-1A36-45BA-A567-24D8897871BB}" destId="{8BE06B88-26AF-43C0-8869-88B6D9ECCA3A}" srcOrd="3" destOrd="0" presId="urn:microsoft.com/office/officeart/2005/8/layout/vList2"/>
    <dgm:cxn modelId="{E97B166A-E92B-486C-B26E-4D63AC1FFDC5}" type="presParOf" srcId="{D7D5568C-1A36-45BA-A567-24D8897871BB}" destId="{D2A4E9AD-EF1F-4B03-B988-0873ED4DF1E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670284D-97E6-48CD-9B7D-BCAB13E93C3E}" type="doc">
      <dgm:prSet loTypeId="urn:microsoft.com/office/officeart/2005/8/layout/vList2" loCatId="list" qsTypeId="urn:microsoft.com/office/officeart/2005/8/quickstyle/simple1#3" qsCatId="simple" csTypeId="urn:microsoft.com/office/officeart/2005/8/colors/accent1_2#1" csCatId="accent1"/>
      <dgm:spPr/>
      <dgm:t>
        <a:bodyPr/>
        <a:lstStyle/>
        <a:p>
          <a:endParaRPr lang="en-US"/>
        </a:p>
      </dgm:t>
    </dgm:pt>
    <dgm:pt modelId="{8B0A5333-5405-420F-8BDB-28BEDACCD082}">
      <dgm:prSet/>
      <dgm:spPr/>
      <dgm:t>
        <a:bodyPr/>
        <a:lstStyle/>
        <a:p>
          <a:r>
            <a:rPr lang="es-CR"/>
            <a:t>¿Dónde? Revistas científicas, libros, comunicaciones de congresos, etc.</a:t>
          </a:r>
          <a:endParaRPr lang="en-US"/>
        </a:p>
      </dgm:t>
    </dgm:pt>
    <dgm:pt modelId="{4F4ACD61-FF1B-4B8B-846E-2E51EF8B4E9F}" type="parTrans" cxnId="{10C6022E-F821-460F-A63D-BCC00F73EDF7}">
      <dgm:prSet/>
      <dgm:spPr/>
      <dgm:t>
        <a:bodyPr/>
        <a:lstStyle/>
        <a:p>
          <a:endParaRPr lang="en-US"/>
        </a:p>
      </dgm:t>
    </dgm:pt>
    <dgm:pt modelId="{E8AC7C1B-8D13-4634-BEBF-3D9F3DAFABFA}" type="sibTrans" cxnId="{10C6022E-F821-460F-A63D-BCC00F73EDF7}">
      <dgm:prSet/>
      <dgm:spPr/>
      <dgm:t>
        <a:bodyPr/>
        <a:lstStyle/>
        <a:p>
          <a:endParaRPr lang="en-US"/>
        </a:p>
      </dgm:t>
    </dgm:pt>
    <dgm:pt modelId="{E3C23760-F89E-4EA9-8D68-DF8EA5C74631}">
      <dgm:prSet/>
      <dgm:spPr/>
      <dgm:t>
        <a:bodyPr/>
        <a:lstStyle/>
        <a:p>
          <a:r>
            <a:rPr lang="es-CR"/>
            <a:t>¿Dónde? Bases de dato de texto completo…</a:t>
          </a:r>
          <a:endParaRPr lang="en-US"/>
        </a:p>
      </dgm:t>
    </dgm:pt>
    <dgm:pt modelId="{894194EE-2D3C-49F9-93E7-910A72DE4DA9}" type="parTrans" cxnId="{2B7CF1A1-5F2D-424D-B947-21E1381E2C31}">
      <dgm:prSet/>
      <dgm:spPr/>
      <dgm:t>
        <a:bodyPr/>
        <a:lstStyle/>
        <a:p>
          <a:endParaRPr lang="en-US"/>
        </a:p>
      </dgm:t>
    </dgm:pt>
    <dgm:pt modelId="{5B6BA3DE-DCFC-49A2-AEC6-44ED52A49CBA}" type="sibTrans" cxnId="{2B7CF1A1-5F2D-424D-B947-21E1381E2C31}">
      <dgm:prSet/>
      <dgm:spPr/>
      <dgm:t>
        <a:bodyPr/>
        <a:lstStyle/>
        <a:p>
          <a:endParaRPr lang="en-US"/>
        </a:p>
      </dgm:t>
    </dgm:pt>
    <dgm:pt modelId="{E1A9B8CC-64C1-4A8E-9A03-1A82DF780FF7}">
      <dgm:prSet/>
      <dgm:spPr/>
      <dgm:t>
        <a:bodyPr/>
        <a:lstStyle/>
        <a:p>
          <a:r>
            <a:rPr lang="es-CR"/>
            <a:t>Ebsco, Proquest, Psycinfo, Sciencedirect, </a:t>
          </a:r>
          <a:r>
            <a:rPr lang="en-US"/>
            <a:t>PubMed, MEDLINE, Web of Science, Google Scholar, </a:t>
          </a:r>
          <a:r>
            <a:rPr lang="es-CR"/>
            <a:t>etc.</a:t>
          </a:r>
          <a:endParaRPr lang="en-US"/>
        </a:p>
      </dgm:t>
    </dgm:pt>
    <dgm:pt modelId="{D2B5513D-F92E-45FA-9816-77633BBB8C0B}" type="parTrans" cxnId="{50750413-A741-4EFF-B16F-57670E3A6B5F}">
      <dgm:prSet/>
      <dgm:spPr/>
      <dgm:t>
        <a:bodyPr/>
        <a:lstStyle/>
        <a:p>
          <a:endParaRPr lang="en-US"/>
        </a:p>
      </dgm:t>
    </dgm:pt>
    <dgm:pt modelId="{CC61636F-344D-40E0-AF75-6F721BCBDB2E}" type="sibTrans" cxnId="{50750413-A741-4EFF-B16F-57670E3A6B5F}">
      <dgm:prSet/>
      <dgm:spPr/>
      <dgm:t>
        <a:bodyPr/>
        <a:lstStyle/>
        <a:p>
          <a:endParaRPr lang="en-US"/>
        </a:p>
      </dgm:t>
    </dgm:pt>
    <dgm:pt modelId="{2C0D2418-3A14-4E67-A6DF-175A1E7E80DD}" type="pres">
      <dgm:prSet presAssocID="{C670284D-97E6-48CD-9B7D-BCAB13E93C3E}" presName="linear" presStyleCnt="0">
        <dgm:presLayoutVars>
          <dgm:animLvl val="lvl"/>
          <dgm:resizeHandles val="exact"/>
        </dgm:presLayoutVars>
      </dgm:prSet>
      <dgm:spPr/>
    </dgm:pt>
    <dgm:pt modelId="{F7439F14-EEA9-43C8-BBDD-F9676FFD15E2}" type="pres">
      <dgm:prSet presAssocID="{8B0A5333-5405-420F-8BDB-28BEDACCD08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BEFA485-058F-4500-ADB9-D2087E35E2FE}" type="pres">
      <dgm:prSet presAssocID="{E8AC7C1B-8D13-4634-BEBF-3D9F3DAFABFA}" presName="spacer" presStyleCnt="0"/>
      <dgm:spPr/>
    </dgm:pt>
    <dgm:pt modelId="{5C0541A5-6466-4BA3-8795-58B815DAD6B3}" type="pres">
      <dgm:prSet presAssocID="{E3C23760-F89E-4EA9-8D68-DF8EA5C7463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E81AFB0-F903-49AB-B645-C6EF56150035}" type="pres">
      <dgm:prSet presAssocID="{5B6BA3DE-DCFC-49A2-AEC6-44ED52A49CBA}" presName="spacer" presStyleCnt="0"/>
      <dgm:spPr/>
    </dgm:pt>
    <dgm:pt modelId="{0800CCD6-FD89-4EEB-B355-3FF550225FB4}" type="pres">
      <dgm:prSet presAssocID="{E1A9B8CC-64C1-4A8E-9A03-1A82DF780FF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0750413-A741-4EFF-B16F-57670E3A6B5F}" srcId="{C670284D-97E6-48CD-9B7D-BCAB13E93C3E}" destId="{E1A9B8CC-64C1-4A8E-9A03-1A82DF780FF7}" srcOrd="2" destOrd="0" parTransId="{D2B5513D-F92E-45FA-9816-77633BBB8C0B}" sibTransId="{CC61636F-344D-40E0-AF75-6F721BCBDB2E}"/>
    <dgm:cxn modelId="{034A851E-1F13-44E4-83C9-378EC22CBE04}" type="presOf" srcId="{E1A9B8CC-64C1-4A8E-9A03-1A82DF780FF7}" destId="{0800CCD6-FD89-4EEB-B355-3FF550225FB4}" srcOrd="0" destOrd="0" presId="urn:microsoft.com/office/officeart/2005/8/layout/vList2"/>
    <dgm:cxn modelId="{10C6022E-F821-460F-A63D-BCC00F73EDF7}" srcId="{C670284D-97E6-48CD-9B7D-BCAB13E93C3E}" destId="{8B0A5333-5405-420F-8BDB-28BEDACCD082}" srcOrd="0" destOrd="0" parTransId="{4F4ACD61-FF1B-4B8B-846E-2E51EF8B4E9F}" sibTransId="{E8AC7C1B-8D13-4634-BEBF-3D9F3DAFABFA}"/>
    <dgm:cxn modelId="{C353B58D-451D-47CC-977B-DF011A42632D}" type="presOf" srcId="{8B0A5333-5405-420F-8BDB-28BEDACCD082}" destId="{F7439F14-EEA9-43C8-BBDD-F9676FFD15E2}" srcOrd="0" destOrd="0" presId="urn:microsoft.com/office/officeart/2005/8/layout/vList2"/>
    <dgm:cxn modelId="{1DBBB4A0-BD2E-489B-B996-E33A79BCD8AC}" type="presOf" srcId="{E3C23760-F89E-4EA9-8D68-DF8EA5C74631}" destId="{5C0541A5-6466-4BA3-8795-58B815DAD6B3}" srcOrd="0" destOrd="0" presId="urn:microsoft.com/office/officeart/2005/8/layout/vList2"/>
    <dgm:cxn modelId="{2B7CF1A1-5F2D-424D-B947-21E1381E2C31}" srcId="{C670284D-97E6-48CD-9B7D-BCAB13E93C3E}" destId="{E3C23760-F89E-4EA9-8D68-DF8EA5C74631}" srcOrd="1" destOrd="0" parTransId="{894194EE-2D3C-49F9-93E7-910A72DE4DA9}" sibTransId="{5B6BA3DE-DCFC-49A2-AEC6-44ED52A49CBA}"/>
    <dgm:cxn modelId="{4789C2CA-FDC4-442A-B1E3-1075FF2DA11A}" type="presOf" srcId="{C670284D-97E6-48CD-9B7D-BCAB13E93C3E}" destId="{2C0D2418-3A14-4E67-A6DF-175A1E7E80DD}" srcOrd="0" destOrd="0" presId="urn:microsoft.com/office/officeart/2005/8/layout/vList2"/>
    <dgm:cxn modelId="{65E527F6-BF16-46AF-A908-49C9C2967CBF}" type="presParOf" srcId="{2C0D2418-3A14-4E67-A6DF-175A1E7E80DD}" destId="{F7439F14-EEA9-43C8-BBDD-F9676FFD15E2}" srcOrd="0" destOrd="0" presId="urn:microsoft.com/office/officeart/2005/8/layout/vList2"/>
    <dgm:cxn modelId="{627B431D-271D-4215-8FE9-A56622F1753F}" type="presParOf" srcId="{2C0D2418-3A14-4E67-A6DF-175A1E7E80DD}" destId="{2BEFA485-058F-4500-ADB9-D2087E35E2FE}" srcOrd="1" destOrd="0" presId="urn:microsoft.com/office/officeart/2005/8/layout/vList2"/>
    <dgm:cxn modelId="{9144B476-2076-441A-AEA7-6C81763B1856}" type="presParOf" srcId="{2C0D2418-3A14-4E67-A6DF-175A1E7E80DD}" destId="{5C0541A5-6466-4BA3-8795-58B815DAD6B3}" srcOrd="2" destOrd="0" presId="urn:microsoft.com/office/officeart/2005/8/layout/vList2"/>
    <dgm:cxn modelId="{AB316524-2883-4303-AA71-C7D38AB42704}" type="presParOf" srcId="{2C0D2418-3A14-4E67-A6DF-175A1E7E80DD}" destId="{7E81AFB0-F903-49AB-B645-C6EF56150035}" srcOrd="3" destOrd="0" presId="urn:microsoft.com/office/officeart/2005/8/layout/vList2"/>
    <dgm:cxn modelId="{4C9E3AC7-3B0C-4C47-BF6F-F62328A03E4F}" type="presParOf" srcId="{2C0D2418-3A14-4E67-A6DF-175A1E7E80DD}" destId="{0800CCD6-FD89-4EEB-B355-3FF550225FB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C634E7-8337-4CFC-97A5-14927F11266F}">
      <dsp:nvSpPr>
        <dsp:cNvPr id="0" name=""/>
        <dsp:cNvSpPr/>
      </dsp:nvSpPr>
      <dsp:spPr>
        <a:xfrm>
          <a:off x="0" y="7024"/>
          <a:ext cx="6900512" cy="8924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DD81DD-013E-4CCD-81E0-2D5F42151B3A}">
      <dsp:nvSpPr>
        <dsp:cNvPr id="0" name=""/>
        <dsp:cNvSpPr/>
      </dsp:nvSpPr>
      <dsp:spPr>
        <a:xfrm>
          <a:off x="269968" y="207827"/>
          <a:ext cx="491332" cy="4908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7BC515-D66D-4903-A759-499169182B73}">
      <dsp:nvSpPr>
        <dsp:cNvPr id="0" name=""/>
        <dsp:cNvSpPr/>
      </dsp:nvSpPr>
      <dsp:spPr>
        <a:xfrm>
          <a:off x="1031270" y="7024"/>
          <a:ext cx="5853359" cy="920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404" tIns="97404" rIns="97404" bIns="97404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 dirty="0"/>
            <a:t>Familiarizarme con las palabras clave, las definiciones y la terminología que se usa en mi campo de estudio.</a:t>
          </a:r>
          <a:endParaRPr lang="en-US" sz="2400" kern="1200" dirty="0"/>
        </a:p>
      </dsp:txBody>
      <dsp:txXfrm>
        <a:off x="1031270" y="7024"/>
        <a:ext cx="5853359" cy="920348"/>
      </dsp:txXfrm>
    </dsp:sp>
    <dsp:sp modelId="{5CD6D5B2-C546-4571-91B2-2B070281532E}">
      <dsp:nvSpPr>
        <dsp:cNvPr id="0" name=""/>
        <dsp:cNvSpPr/>
      </dsp:nvSpPr>
      <dsp:spPr>
        <a:xfrm>
          <a:off x="0" y="1157460"/>
          <a:ext cx="6900512" cy="8924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5A060B-DABA-49EB-8B59-1A58D615FE66}">
      <dsp:nvSpPr>
        <dsp:cNvPr id="0" name=""/>
        <dsp:cNvSpPr/>
      </dsp:nvSpPr>
      <dsp:spPr>
        <a:xfrm>
          <a:off x="269968" y="1358263"/>
          <a:ext cx="491332" cy="4908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961D4D-A475-43CF-860A-C4629F55CC8D}">
      <dsp:nvSpPr>
        <dsp:cNvPr id="0" name=""/>
        <dsp:cNvSpPr/>
      </dsp:nvSpPr>
      <dsp:spPr>
        <a:xfrm>
          <a:off x="1031270" y="1157460"/>
          <a:ext cx="5853359" cy="920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404" tIns="97404" rIns="97404" bIns="97404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 dirty="0"/>
            <a:t>Determinar los principales modelos teóricos que se han desarrollado para explicar el fenómeno que me interesa investigar.</a:t>
          </a:r>
          <a:endParaRPr lang="en-US" sz="2400" kern="1200" dirty="0"/>
        </a:p>
      </dsp:txBody>
      <dsp:txXfrm>
        <a:off x="1031270" y="1157460"/>
        <a:ext cx="5853359" cy="920348"/>
      </dsp:txXfrm>
    </dsp:sp>
    <dsp:sp modelId="{42624C91-1AE8-4CA3-9EBC-8F9B46C78E32}">
      <dsp:nvSpPr>
        <dsp:cNvPr id="0" name=""/>
        <dsp:cNvSpPr/>
      </dsp:nvSpPr>
      <dsp:spPr>
        <a:xfrm>
          <a:off x="0" y="2307896"/>
          <a:ext cx="6900512" cy="8924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3CDC10-624D-432C-AB91-B63B9BC17F18}">
      <dsp:nvSpPr>
        <dsp:cNvPr id="0" name=""/>
        <dsp:cNvSpPr/>
      </dsp:nvSpPr>
      <dsp:spPr>
        <a:xfrm>
          <a:off x="269968" y="2508699"/>
          <a:ext cx="491332" cy="4908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671235-F0E7-41D9-B3C6-15880E6543F9}">
      <dsp:nvSpPr>
        <dsp:cNvPr id="0" name=""/>
        <dsp:cNvSpPr/>
      </dsp:nvSpPr>
      <dsp:spPr>
        <a:xfrm>
          <a:off x="1031270" y="2307896"/>
          <a:ext cx="5853359" cy="920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404" tIns="97404" rIns="97404" bIns="97404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 dirty="0"/>
            <a:t>Conocer qué se ha descubierto sobre el fenómeno que quiero estudiar.</a:t>
          </a:r>
          <a:endParaRPr lang="en-US" sz="2400" kern="1200" dirty="0"/>
        </a:p>
      </dsp:txBody>
      <dsp:txXfrm>
        <a:off x="1031270" y="2307896"/>
        <a:ext cx="5853359" cy="920348"/>
      </dsp:txXfrm>
    </dsp:sp>
    <dsp:sp modelId="{D7D2E0DA-E931-44A4-B767-2610BCA9850A}">
      <dsp:nvSpPr>
        <dsp:cNvPr id="0" name=""/>
        <dsp:cNvSpPr/>
      </dsp:nvSpPr>
      <dsp:spPr>
        <a:xfrm>
          <a:off x="0" y="3458332"/>
          <a:ext cx="6900512" cy="8924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0A330C-1CC9-475D-9E8D-3E49A9DC542C}">
      <dsp:nvSpPr>
        <dsp:cNvPr id="0" name=""/>
        <dsp:cNvSpPr/>
      </dsp:nvSpPr>
      <dsp:spPr>
        <a:xfrm>
          <a:off x="269968" y="3659135"/>
          <a:ext cx="491332" cy="4908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682CF9-F494-4DF8-B974-4DFED423A3DD}">
      <dsp:nvSpPr>
        <dsp:cNvPr id="0" name=""/>
        <dsp:cNvSpPr/>
      </dsp:nvSpPr>
      <dsp:spPr>
        <a:xfrm>
          <a:off x="1031270" y="3458332"/>
          <a:ext cx="5853359" cy="920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404" tIns="97404" rIns="97404" bIns="97404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 dirty="0"/>
            <a:t>Identificar los métodos más usados para estudiar el fenómeno</a:t>
          </a:r>
          <a:endParaRPr lang="en-US" sz="2400" kern="1200" dirty="0"/>
        </a:p>
      </dsp:txBody>
      <dsp:txXfrm>
        <a:off x="1031270" y="3458332"/>
        <a:ext cx="5853359" cy="920348"/>
      </dsp:txXfrm>
    </dsp:sp>
    <dsp:sp modelId="{09EBE07C-B21C-456D-8C50-C1B271744EA3}">
      <dsp:nvSpPr>
        <dsp:cNvPr id="0" name=""/>
        <dsp:cNvSpPr/>
      </dsp:nvSpPr>
      <dsp:spPr>
        <a:xfrm>
          <a:off x="0" y="4608768"/>
          <a:ext cx="6900512" cy="89245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DB0ADB-D0E8-45FB-B052-8FBC46457EBA}">
      <dsp:nvSpPr>
        <dsp:cNvPr id="0" name=""/>
        <dsp:cNvSpPr/>
      </dsp:nvSpPr>
      <dsp:spPr>
        <a:xfrm>
          <a:off x="269968" y="4809571"/>
          <a:ext cx="491332" cy="4908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263477-41E6-4527-968D-C5951A532F58}">
      <dsp:nvSpPr>
        <dsp:cNvPr id="0" name=""/>
        <dsp:cNvSpPr/>
      </dsp:nvSpPr>
      <dsp:spPr>
        <a:xfrm>
          <a:off x="1031270" y="4608768"/>
          <a:ext cx="5853359" cy="920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404" tIns="97404" rIns="97404" bIns="97404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400" kern="1200" dirty="0"/>
            <a:t>Facilitarme la interpretación de mis resultados </a:t>
          </a:r>
          <a:endParaRPr lang="en-US" sz="2400" kern="1200" dirty="0"/>
        </a:p>
      </dsp:txBody>
      <dsp:txXfrm>
        <a:off x="1031270" y="4608768"/>
        <a:ext cx="5853359" cy="9203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EFCCB0-FD99-486B-AAD5-F40A9CF1566F}">
      <dsp:nvSpPr>
        <dsp:cNvPr id="0" name=""/>
        <dsp:cNvSpPr/>
      </dsp:nvSpPr>
      <dsp:spPr>
        <a:xfrm>
          <a:off x="0" y="7615"/>
          <a:ext cx="6900512" cy="175390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4500" kern="1200"/>
            <a:t>¿Qué se sabe sobre el tema (teoría)?</a:t>
          </a:r>
          <a:endParaRPr lang="en-US" sz="4500" kern="1200"/>
        </a:p>
      </dsp:txBody>
      <dsp:txXfrm>
        <a:off x="85618" y="93233"/>
        <a:ext cx="6729276" cy="1582667"/>
      </dsp:txXfrm>
    </dsp:sp>
    <dsp:sp modelId="{DBE701FB-797A-467C-9606-F7698A883515}">
      <dsp:nvSpPr>
        <dsp:cNvPr id="0" name=""/>
        <dsp:cNvSpPr/>
      </dsp:nvSpPr>
      <dsp:spPr>
        <a:xfrm>
          <a:off x="0" y="1891118"/>
          <a:ext cx="6900512" cy="1753903"/>
        </a:xfrm>
        <a:prstGeom prst="roundRect">
          <a:avLst/>
        </a:prstGeom>
        <a:solidFill>
          <a:schemeClr val="accent2">
            <a:hueOff val="-1224775"/>
            <a:satOff val="-5657"/>
            <a:lumOff val="-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4500" kern="1200"/>
            <a:t>¿Cómo se lleva a cabo la investigación sobre el tema (metodología)?</a:t>
          </a:r>
          <a:endParaRPr lang="en-US" sz="4500" kern="1200"/>
        </a:p>
      </dsp:txBody>
      <dsp:txXfrm>
        <a:off x="85618" y="1976736"/>
        <a:ext cx="6729276" cy="1582667"/>
      </dsp:txXfrm>
    </dsp:sp>
    <dsp:sp modelId="{D2A4E9AD-EF1F-4B03-B988-0873ED4DF1E0}">
      <dsp:nvSpPr>
        <dsp:cNvPr id="0" name=""/>
        <dsp:cNvSpPr/>
      </dsp:nvSpPr>
      <dsp:spPr>
        <a:xfrm>
          <a:off x="0" y="3774622"/>
          <a:ext cx="6900512" cy="1753903"/>
        </a:xfrm>
        <a:prstGeom prst="roundRect">
          <a:avLst/>
        </a:prstGeom>
        <a:solidFill>
          <a:schemeClr val="accent2">
            <a:hueOff val="-2449550"/>
            <a:satOff val="-11314"/>
            <a:lumOff val="-235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4500" kern="1200"/>
            <a:t>¿Qué falta por investigar (vacíos que mi investigación puede llenar)?</a:t>
          </a:r>
          <a:endParaRPr lang="en-US" sz="4500" kern="1200"/>
        </a:p>
      </dsp:txBody>
      <dsp:txXfrm>
        <a:off x="85618" y="3860240"/>
        <a:ext cx="6729276" cy="158266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439F14-EEA9-43C8-BBDD-F9676FFD15E2}">
      <dsp:nvSpPr>
        <dsp:cNvPr id="0" name=""/>
        <dsp:cNvSpPr/>
      </dsp:nvSpPr>
      <dsp:spPr>
        <a:xfrm>
          <a:off x="0" y="7217"/>
          <a:ext cx="6346209" cy="109131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800" kern="1200"/>
            <a:t>¿Dónde? Revistas científicas, libros, comunicaciones de congresos, etc.</a:t>
          </a:r>
          <a:endParaRPr lang="en-US" sz="2800" kern="1200"/>
        </a:p>
      </dsp:txBody>
      <dsp:txXfrm>
        <a:off x="53274" y="60491"/>
        <a:ext cx="6239661" cy="984769"/>
      </dsp:txXfrm>
    </dsp:sp>
    <dsp:sp modelId="{5C0541A5-6466-4BA3-8795-58B815DAD6B3}">
      <dsp:nvSpPr>
        <dsp:cNvPr id="0" name=""/>
        <dsp:cNvSpPr/>
      </dsp:nvSpPr>
      <dsp:spPr>
        <a:xfrm>
          <a:off x="0" y="1179174"/>
          <a:ext cx="6346209" cy="109131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800" kern="1200"/>
            <a:t>¿Dónde? Bases de dato de texto completo…</a:t>
          </a:r>
          <a:endParaRPr lang="en-US" sz="2800" kern="1200"/>
        </a:p>
      </dsp:txBody>
      <dsp:txXfrm>
        <a:off x="53274" y="1232448"/>
        <a:ext cx="6239661" cy="984769"/>
      </dsp:txXfrm>
    </dsp:sp>
    <dsp:sp modelId="{0800CCD6-FD89-4EEB-B355-3FF550225FB4}">
      <dsp:nvSpPr>
        <dsp:cNvPr id="0" name=""/>
        <dsp:cNvSpPr/>
      </dsp:nvSpPr>
      <dsp:spPr>
        <a:xfrm>
          <a:off x="0" y="2351132"/>
          <a:ext cx="6346209" cy="109131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800" kern="1200"/>
            <a:t>Ebsco, Proquest, Psycinfo, Sciencedirect, </a:t>
          </a:r>
          <a:r>
            <a:rPr lang="en-US" sz="2800" kern="1200"/>
            <a:t>PubMed, MEDLINE, Web of Science, Google Scholar, </a:t>
          </a:r>
          <a:r>
            <a:rPr lang="es-CR" sz="2800" kern="1200"/>
            <a:t>etc.</a:t>
          </a:r>
          <a:endParaRPr lang="en-US" sz="2800" kern="1200"/>
        </a:p>
      </dsp:txBody>
      <dsp:txXfrm>
        <a:off x="53274" y="2404406"/>
        <a:ext cx="6239661" cy="9847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DF84DA-2C64-43B0-8904-E5DB3AE18CE7}" type="datetimeFigureOut">
              <a:rPr lang="es-CR" smtClean="0"/>
              <a:t>14/10/2026</a:t>
            </a:fld>
            <a:endParaRPr lang="es-C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A1B62-C022-4422-BAC2-56FB50F6CA2D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842636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531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758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159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9618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9632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732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862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213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165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88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101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243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8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A67EF3-2CF8-1430-AB88-316131DA9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Enfoque cuantitativo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8AF1C3-AD6C-6C4F-721C-A13EF9311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MX" dirty="0"/>
              <a:t>Utiliza la recolección de datos para probar hipótesis con base en la medición numérica y el análisis estadístico, con el fin establecer pautas de comportamiento y probar </a:t>
            </a:r>
            <a:r>
              <a:rPr lang="es-CR" dirty="0"/>
              <a:t>teorías.</a:t>
            </a:r>
          </a:p>
          <a:p>
            <a:pPr marL="0" indent="0">
              <a:buNone/>
            </a:pPr>
            <a:r>
              <a:rPr lang="es-CR" dirty="0"/>
              <a:t>Es secuencial y </a:t>
            </a:r>
            <a:r>
              <a:rPr lang="es-MX" dirty="0"/>
              <a:t>probatorio. </a:t>
            </a:r>
          </a:p>
          <a:p>
            <a:pPr marL="0" indent="0">
              <a:buNone/>
            </a:pPr>
            <a:r>
              <a:rPr lang="es-MX" dirty="0"/>
              <a:t>Cada etapa precede a la siguiente y no podemos “brincar” o eludir pasos.</a:t>
            </a:r>
          </a:p>
          <a:p>
            <a:pPr marL="0" indent="0">
              <a:buNone/>
            </a:pPr>
            <a:r>
              <a:rPr lang="es-MX" dirty="0"/>
              <a:t> El orden es riguroso, aunque desde luego, podemos redefinir alguna fase. Parte de una idea que va acotándose y, una vez delimitada, se derivan objetivos y preguntas de investigación, se revisa la literatura y se construye un marco o una perspectiva teórica. </a:t>
            </a:r>
          </a:p>
          <a:p>
            <a:pPr marL="0" indent="0">
              <a:buNone/>
            </a:pPr>
            <a:r>
              <a:rPr lang="es-MX" dirty="0"/>
              <a:t>De las preguntas se establecen hipótesis y determinan variables; se traza un plan para probarlas (diseño); se miden las variables en un determinado contexto; se analizan las mediciones obtenidas utilizando métodos estadísticos, y se extrae una serie de conclusiones respecto de la o las hipótesis.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091640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1242EF-E6AE-2AD8-48B4-1F94F009B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Enfoque cuantitativo</a:t>
            </a:r>
          </a:p>
        </p:txBody>
      </p:sp>
      <p:pic>
        <p:nvPicPr>
          <p:cNvPr id="5" name="Marcador de contenido 4" descr="Diagrama&#10;&#10;El contenido generado por IA puede ser incorrecto.">
            <a:extLst>
              <a:ext uri="{FF2B5EF4-FFF2-40B4-BE49-F238E27FC236}">
                <a16:creationId xmlns:a16="http://schemas.microsoft.com/office/drawing/2014/main" id="{ABB81AE6-34B6-63F5-7D1E-C444891870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9047" y="2176919"/>
            <a:ext cx="11514902" cy="448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99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280510F-6036-71B6-1218-30ADA59F0D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4973" b="1"/>
          <a:stretch>
            <a:fillRect/>
          </a:stretch>
        </p:blipFill>
        <p:spPr>
          <a:xfrm>
            <a:off x="180279" y="161490"/>
            <a:ext cx="11827082" cy="6534092"/>
          </a:xfrm>
          <a:custGeom>
            <a:avLst/>
            <a:gdLst/>
            <a:ahLst/>
            <a:cxnLst/>
            <a:rect l="l" t="t" r="r" b="b"/>
            <a:pathLst>
              <a:path w="11827082" h="6534092">
                <a:moveTo>
                  <a:pt x="6610089" y="5"/>
                </a:moveTo>
                <a:cubicBezTo>
                  <a:pt x="6763993" y="-277"/>
                  <a:pt x="6862741" y="14300"/>
                  <a:pt x="6956523" y="21390"/>
                </a:cubicBezTo>
                <a:cubicBezTo>
                  <a:pt x="7271939" y="-12207"/>
                  <a:pt x="7581352" y="149"/>
                  <a:pt x="7768349" y="21390"/>
                </a:cubicBezTo>
                <a:lnTo>
                  <a:pt x="7831642" y="23688"/>
                </a:lnTo>
                <a:lnTo>
                  <a:pt x="7886307" y="21390"/>
                </a:lnTo>
                <a:cubicBezTo>
                  <a:pt x="7951978" y="17798"/>
                  <a:pt x="8007622" y="16567"/>
                  <a:pt x="8057445" y="16600"/>
                </a:cubicBezTo>
                <a:lnTo>
                  <a:pt x="8096254" y="17396"/>
                </a:lnTo>
                <a:lnTo>
                  <a:pt x="8199591" y="12947"/>
                </a:lnTo>
                <a:cubicBezTo>
                  <a:pt x="8247971" y="12558"/>
                  <a:pt x="8296272" y="14617"/>
                  <a:pt x="8344260" y="21390"/>
                </a:cubicBezTo>
                <a:lnTo>
                  <a:pt x="8355505" y="22738"/>
                </a:lnTo>
                <a:lnTo>
                  <a:pt x="8462217" y="21390"/>
                </a:lnTo>
                <a:cubicBezTo>
                  <a:pt x="8567700" y="16869"/>
                  <a:pt x="8666620" y="17239"/>
                  <a:pt x="8761697" y="18554"/>
                </a:cubicBezTo>
                <a:lnTo>
                  <a:pt x="8808871" y="19038"/>
                </a:lnTo>
                <a:lnTo>
                  <a:pt x="8941246" y="13930"/>
                </a:lnTo>
                <a:cubicBezTo>
                  <a:pt x="9040199" y="10800"/>
                  <a:pt x="9149474" y="10157"/>
                  <a:pt x="9260166" y="21390"/>
                </a:cubicBezTo>
                <a:lnTo>
                  <a:pt x="9339613" y="26448"/>
                </a:lnTo>
                <a:lnTo>
                  <a:pt x="9432845" y="28493"/>
                </a:lnTo>
                <a:cubicBezTo>
                  <a:pt x="9587011" y="31230"/>
                  <a:pt x="9744909" y="31599"/>
                  <a:pt x="9849954" y="21390"/>
                </a:cubicBezTo>
                <a:cubicBezTo>
                  <a:pt x="10060044" y="972"/>
                  <a:pt x="10204432" y="2657"/>
                  <a:pt x="10425865" y="21390"/>
                </a:cubicBezTo>
                <a:lnTo>
                  <a:pt x="10477895" y="25158"/>
                </a:lnTo>
                <a:lnTo>
                  <a:pt x="10566351" y="27751"/>
                </a:lnTo>
                <a:cubicBezTo>
                  <a:pt x="10727031" y="32755"/>
                  <a:pt x="10877889" y="35639"/>
                  <a:pt x="11001775" y="21390"/>
                </a:cubicBezTo>
                <a:cubicBezTo>
                  <a:pt x="11249546" y="-7108"/>
                  <a:pt x="11434553" y="12510"/>
                  <a:pt x="11813601" y="21390"/>
                </a:cubicBezTo>
                <a:cubicBezTo>
                  <a:pt x="11817928" y="208271"/>
                  <a:pt x="11818867" y="336567"/>
                  <a:pt x="11813601" y="475847"/>
                </a:cubicBezTo>
                <a:cubicBezTo>
                  <a:pt x="11808335" y="615127"/>
                  <a:pt x="11845853" y="1008651"/>
                  <a:pt x="11813601" y="1254916"/>
                </a:cubicBezTo>
                <a:cubicBezTo>
                  <a:pt x="11809570" y="1285699"/>
                  <a:pt x="11806768" y="1314174"/>
                  <a:pt x="11804923" y="1340777"/>
                </a:cubicBezTo>
                <a:lnTo>
                  <a:pt x="11803652" y="1373115"/>
                </a:lnTo>
                <a:lnTo>
                  <a:pt x="11804560" y="1395572"/>
                </a:lnTo>
                <a:cubicBezTo>
                  <a:pt x="11806656" y="1431340"/>
                  <a:pt x="11809600" y="1470662"/>
                  <a:pt x="11813601" y="1514605"/>
                </a:cubicBezTo>
                <a:cubicBezTo>
                  <a:pt x="11829606" y="1690380"/>
                  <a:pt x="11822955" y="1813845"/>
                  <a:pt x="11815628" y="1920902"/>
                </a:cubicBezTo>
                <a:lnTo>
                  <a:pt x="11811346" y="1995660"/>
                </a:lnTo>
                <a:lnTo>
                  <a:pt x="11813868" y="2104640"/>
                </a:lnTo>
                <a:lnTo>
                  <a:pt x="11817197" y="2264365"/>
                </a:lnTo>
                <a:lnTo>
                  <a:pt x="11821465" y="2306631"/>
                </a:lnTo>
                <a:cubicBezTo>
                  <a:pt x="11835170" y="2477814"/>
                  <a:pt x="11818400" y="2578773"/>
                  <a:pt x="11813601" y="2683208"/>
                </a:cubicBezTo>
                <a:cubicBezTo>
                  <a:pt x="11809487" y="2772725"/>
                  <a:pt x="11816027" y="2930030"/>
                  <a:pt x="11816192" y="3070653"/>
                </a:cubicBezTo>
                <a:lnTo>
                  <a:pt x="11813610" y="3202145"/>
                </a:lnTo>
                <a:lnTo>
                  <a:pt x="11813601" y="3267510"/>
                </a:lnTo>
                <a:cubicBezTo>
                  <a:pt x="11811419" y="3587194"/>
                  <a:pt x="11813535" y="3497122"/>
                  <a:pt x="11813601" y="3721967"/>
                </a:cubicBezTo>
                <a:cubicBezTo>
                  <a:pt x="11813617" y="3778178"/>
                  <a:pt x="11814293" y="3835214"/>
                  <a:pt x="11815131" y="3894088"/>
                </a:cubicBezTo>
                <a:lnTo>
                  <a:pt x="11816203" y="3972593"/>
                </a:lnTo>
                <a:lnTo>
                  <a:pt x="11816265" y="3973919"/>
                </a:lnTo>
                <a:cubicBezTo>
                  <a:pt x="11819902" y="4062998"/>
                  <a:pt x="11819694" y="4122248"/>
                  <a:pt x="11818174" y="4171327"/>
                </a:cubicBezTo>
                <a:lnTo>
                  <a:pt x="11817878" y="4178488"/>
                </a:lnTo>
                <a:lnTo>
                  <a:pt x="11818118" y="4277530"/>
                </a:lnTo>
                <a:cubicBezTo>
                  <a:pt x="11817612" y="4347824"/>
                  <a:pt x="11816272" y="4421987"/>
                  <a:pt x="11813601" y="4501036"/>
                </a:cubicBezTo>
                <a:cubicBezTo>
                  <a:pt x="11824398" y="4779554"/>
                  <a:pt x="11834923" y="4895505"/>
                  <a:pt x="11813601" y="5020415"/>
                </a:cubicBezTo>
                <a:cubicBezTo>
                  <a:pt x="11808270" y="5051643"/>
                  <a:pt x="11804885" y="5094410"/>
                  <a:pt x="11802984" y="5145366"/>
                </a:cubicBezTo>
                <a:lnTo>
                  <a:pt x="11802805" y="5153576"/>
                </a:lnTo>
                <a:lnTo>
                  <a:pt x="11813601" y="5280104"/>
                </a:lnTo>
                <a:cubicBezTo>
                  <a:pt x="11848339" y="5545832"/>
                  <a:pt x="11803810" y="5568088"/>
                  <a:pt x="11813601" y="5734561"/>
                </a:cubicBezTo>
                <a:cubicBezTo>
                  <a:pt x="11814825" y="5755370"/>
                  <a:pt x="11815354" y="5777180"/>
                  <a:pt x="11815391" y="5800160"/>
                </a:cubicBezTo>
                <a:lnTo>
                  <a:pt x="11814403" y="5861994"/>
                </a:lnTo>
                <a:lnTo>
                  <a:pt x="11814897" y="5940552"/>
                </a:lnTo>
                <a:cubicBezTo>
                  <a:pt x="11813455" y="6007961"/>
                  <a:pt x="11810716" y="6074118"/>
                  <a:pt x="11808410" y="6139030"/>
                </a:cubicBezTo>
                <a:lnTo>
                  <a:pt x="11805249" y="6294204"/>
                </a:lnTo>
                <a:lnTo>
                  <a:pt x="11806853" y="6377232"/>
                </a:lnTo>
                <a:lnTo>
                  <a:pt x="11813601" y="6513630"/>
                </a:lnTo>
                <a:cubicBezTo>
                  <a:pt x="11755932" y="6520071"/>
                  <a:pt x="11702085" y="6522123"/>
                  <a:pt x="11651008" y="6521869"/>
                </a:cubicBezTo>
                <a:lnTo>
                  <a:pt x="11606878" y="6520178"/>
                </a:lnTo>
                <a:lnTo>
                  <a:pt x="11480359" y="6526470"/>
                </a:lnTo>
                <a:cubicBezTo>
                  <a:pt x="11411497" y="6529079"/>
                  <a:pt x="11340067" y="6529281"/>
                  <a:pt x="11235913" y="6522672"/>
                </a:cubicBezTo>
                <a:lnTo>
                  <a:pt x="11167376" y="6517338"/>
                </a:lnTo>
                <a:lnTo>
                  <a:pt x="11118099" y="6519937"/>
                </a:lnTo>
                <a:cubicBezTo>
                  <a:pt x="11008080" y="6519923"/>
                  <a:pt x="10918905" y="6505169"/>
                  <a:pt x="10779737" y="6513630"/>
                </a:cubicBezTo>
                <a:lnTo>
                  <a:pt x="10756340" y="6513513"/>
                </a:lnTo>
                <a:lnTo>
                  <a:pt x="10748952" y="6514346"/>
                </a:lnTo>
                <a:cubicBezTo>
                  <a:pt x="10725838" y="6516206"/>
                  <a:pt x="10699773" y="6516641"/>
                  <a:pt x="10661780" y="6513630"/>
                </a:cubicBezTo>
                <a:lnTo>
                  <a:pt x="10643067" y="6512943"/>
                </a:lnTo>
                <a:lnTo>
                  <a:pt x="10627638" y="6512866"/>
                </a:lnTo>
                <a:lnTo>
                  <a:pt x="10598539" y="6511309"/>
                </a:lnTo>
                <a:lnTo>
                  <a:pt x="10590670" y="6511020"/>
                </a:lnTo>
                <a:cubicBezTo>
                  <a:pt x="10422654" y="6509230"/>
                  <a:pt x="10114537" y="6525711"/>
                  <a:pt x="9930443" y="6519069"/>
                </a:cubicBezTo>
                <a:lnTo>
                  <a:pt x="9908887" y="6517613"/>
                </a:lnTo>
                <a:lnTo>
                  <a:pt x="9697150" y="6531900"/>
                </a:lnTo>
                <a:cubicBezTo>
                  <a:pt x="9438634" y="6540253"/>
                  <a:pt x="9217380" y="6522684"/>
                  <a:pt x="9038128" y="6513630"/>
                </a:cubicBezTo>
                <a:lnTo>
                  <a:pt x="8901719" y="6509665"/>
                </a:lnTo>
                <a:lnTo>
                  <a:pt x="8766922" y="6512046"/>
                </a:lnTo>
                <a:cubicBezTo>
                  <a:pt x="8694433" y="6513288"/>
                  <a:pt x="8629372" y="6514112"/>
                  <a:pt x="8580175" y="6513630"/>
                </a:cubicBezTo>
                <a:lnTo>
                  <a:pt x="8571277" y="6513524"/>
                </a:lnTo>
                <a:lnTo>
                  <a:pt x="8462217" y="6513630"/>
                </a:lnTo>
                <a:cubicBezTo>
                  <a:pt x="8225188" y="6509968"/>
                  <a:pt x="7780127" y="6525503"/>
                  <a:pt x="7532434" y="6513630"/>
                </a:cubicBezTo>
                <a:lnTo>
                  <a:pt x="7448622" y="6511320"/>
                </a:lnTo>
                <a:lnTo>
                  <a:pt x="7428354" y="6513630"/>
                </a:lnTo>
                <a:cubicBezTo>
                  <a:pt x="7293248" y="6538560"/>
                  <a:pt x="7186080" y="6533261"/>
                  <a:pt x="7078782" y="6523679"/>
                </a:cubicBezTo>
                <a:lnTo>
                  <a:pt x="6973169" y="6513887"/>
                </a:lnTo>
                <a:lnTo>
                  <a:pt x="6954249" y="6514033"/>
                </a:lnTo>
                <a:cubicBezTo>
                  <a:pt x="6918701" y="6514123"/>
                  <a:pt x="6880374" y="6514018"/>
                  <a:pt x="6838566" y="6513630"/>
                </a:cubicBezTo>
                <a:lnTo>
                  <a:pt x="6790865" y="6514652"/>
                </a:lnTo>
                <a:lnTo>
                  <a:pt x="6717520" y="6518204"/>
                </a:lnTo>
                <a:lnTo>
                  <a:pt x="6690736" y="6516798"/>
                </a:lnTo>
                <a:lnTo>
                  <a:pt x="6604647" y="6518643"/>
                </a:lnTo>
                <a:cubicBezTo>
                  <a:pt x="6383546" y="6528740"/>
                  <a:pt x="6188571" y="6547337"/>
                  <a:pt x="5908782" y="6513630"/>
                </a:cubicBezTo>
                <a:lnTo>
                  <a:pt x="5827432" y="6506155"/>
                </a:lnTo>
                <a:lnTo>
                  <a:pt x="5818169" y="6505897"/>
                </a:lnTo>
                <a:cubicBezTo>
                  <a:pt x="5656134" y="6501940"/>
                  <a:pt x="5476891" y="6500561"/>
                  <a:pt x="5360626" y="6513630"/>
                </a:cubicBezTo>
                <a:cubicBezTo>
                  <a:pt x="5244362" y="6526700"/>
                  <a:pt x="5155294" y="6523407"/>
                  <a:pt x="5082581" y="6518492"/>
                </a:cubicBezTo>
                <a:lnTo>
                  <a:pt x="5011539" y="6513612"/>
                </a:lnTo>
                <a:lnTo>
                  <a:pt x="4978999" y="6513630"/>
                </a:lnTo>
                <a:lnTo>
                  <a:pt x="4947560" y="6512597"/>
                </a:lnTo>
                <a:lnTo>
                  <a:pt x="4902673" y="6513630"/>
                </a:lnTo>
                <a:cubicBezTo>
                  <a:pt x="4851834" y="6520217"/>
                  <a:pt x="4795188" y="6523001"/>
                  <a:pt x="4737076" y="6522747"/>
                </a:cubicBezTo>
                <a:lnTo>
                  <a:pt x="4649328" y="6518160"/>
                </a:lnTo>
                <a:lnTo>
                  <a:pt x="4624935" y="6519597"/>
                </a:lnTo>
                <a:cubicBezTo>
                  <a:pt x="4598495" y="6519851"/>
                  <a:pt x="4566987" y="6518389"/>
                  <a:pt x="4521046" y="6513630"/>
                </a:cubicBezTo>
                <a:lnTo>
                  <a:pt x="4456833" y="6510131"/>
                </a:lnTo>
                <a:lnTo>
                  <a:pt x="4343538" y="6512337"/>
                </a:lnTo>
                <a:cubicBezTo>
                  <a:pt x="4260681" y="6514690"/>
                  <a:pt x="4174545" y="6517475"/>
                  <a:pt x="4104725" y="6513630"/>
                </a:cubicBezTo>
                <a:cubicBezTo>
                  <a:pt x="3965085" y="6505941"/>
                  <a:pt x="3802107" y="6535988"/>
                  <a:pt x="3528815" y="6513630"/>
                </a:cubicBezTo>
                <a:lnTo>
                  <a:pt x="3407613" y="6504978"/>
                </a:lnTo>
                <a:lnTo>
                  <a:pt x="3251268" y="6513630"/>
                </a:lnTo>
                <a:cubicBezTo>
                  <a:pt x="3103602" y="6529652"/>
                  <a:pt x="3004932" y="6519904"/>
                  <a:pt x="2867035" y="6513929"/>
                </a:cubicBezTo>
                <a:lnTo>
                  <a:pt x="2840124" y="6513045"/>
                </a:lnTo>
                <a:lnTo>
                  <a:pt x="2834946" y="6513630"/>
                </a:lnTo>
                <a:cubicBezTo>
                  <a:pt x="2691933" y="6538293"/>
                  <a:pt x="2614008" y="6529004"/>
                  <a:pt x="2502859" y="6520536"/>
                </a:cubicBezTo>
                <a:lnTo>
                  <a:pt x="2442001" y="6517197"/>
                </a:lnTo>
                <a:lnTo>
                  <a:pt x="2438245" y="6517313"/>
                </a:lnTo>
                <a:cubicBezTo>
                  <a:pt x="2401807" y="6517985"/>
                  <a:pt x="2368299" y="6518156"/>
                  <a:pt x="2336678" y="6517988"/>
                </a:cubicBezTo>
                <a:lnTo>
                  <a:pt x="2185932" y="6514754"/>
                </a:lnTo>
                <a:lnTo>
                  <a:pt x="1960620" y="6520062"/>
                </a:lnTo>
                <a:cubicBezTo>
                  <a:pt x="1876521" y="6521810"/>
                  <a:pt x="1788378" y="6523022"/>
                  <a:pt x="1701155" y="6522387"/>
                </a:cubicBezTo>
                <a:lnTo>
                  <a:pt x="1589271" y="6518529"/>
                </a:lnTo>
                <a:lnTo>
                  <a:pt x="1539168" y="6519829"/>
                </a:lnTo>
                <a:cubicBezTo>
                  <a:pt x="1395291" y="6522782"/>
                  <a:pt x="1407110" y="6517174"/>
                  <a:pt x="1287620" y="6513630"/>
                </a:cubicBezTo>
                <a:cubicBezTo>
                  <a:pt x="1168131" y="6510087"/>
                  <a:pt x="1041230" y="6513238"/>
                  <a:pt x="932033" y="6514000"/>
                </a:cubicBezTo>
                <a:lnTo>
                  <a:pt x="918750" y="6513952"/>
                </a:lnTo>
                <a:lnTo>
                  <a:pt x="858917" y="6514806"/>
                </a:lnTo>
                <a:cubicBezTo>
                  <a:pt x="826932" y="6514879"/>
                  <a:pt x="792070" y="6514545"/>
                  <a:pt x="753341" y="6513630"/>
                </a:cubicBezTo>
                <a:cubicBezTo>
                  <a:pt x="443511" y="6506311"/>
                  <a:pt x="354936" y="6524642"/>
                  <a:pt x="17841" y="6513630"/>
                </a:cubicBezTo>
                <a:cubicBezTo>
                  <a:pt x="-956" y="6342673"/>
                  <a:pt x="-10467" y="6012653"/>
                  <a:pt x="17841" y="5799484"/>
                </a:cubicBezTo>
                <a:lnTo>
                  <a:pt x="19845" y="5756408"/>
                </a:lnTo>
                <a:lnTo>
                  <a:pt x="17841" y="5734561"/>
                </a:lnTo>
                <a:cubicBezTo>
                  <a:pt x="13149" y="5695472"/>
                  <a:pt x="12578" y="5648752"/>
                  <a:pt x="13918" y="5598323"/>
                </a:cubicBezTo>
                <a:lnTo>
                  <a:pt x="18180" y="5508699"/>
                </a:lnTo>
                <a:lnTo>
                  <a:pt x="16493" y="5477760"/>
                </a:lnTo>
                <a:cubicBezTo>
                  <a:pt x="8966" y="5369709"/>
                  <a:pt x="1889" y="5260695"/>
                  <a:pt x="17841" y="5150260"/>
                </a:cubicBezTo>
                <a:cubicBezTo>
                  <a:pt x="-3463" y="5038150"/>
                  <a:pt x="-2139" y="4857473"/>
                  <a:pt x="6850" y="4650409"/>
                </a:cubicBezTo>
                <a:lnTo>
                  <a:pt x="14633" y="4498670"/>
                </a:lnTo>
                <a:lnTo>
                  <a:pt x="14494" y="4495758"/>
                </a:lnTo>
                <a:cubicBezTo>
                  <a:pt x="12245" y="4421472"/>
                  <a:pt x="13025" y="4335511"/>
                  <a:pt x="14442" y="4243130"/>
                </a:cubicBezTo>
                <a:lnTo>
                  <a:pt x="16801" y="4091152"/>
                </a:lnTo>
                <a:lnTo>
                  <a:pt x="13537" y="4018512"/>
                </a:lnTo>
                <a:lnTo>
                  <a:pt x="17696" y="3920163"/>
                </a:lnTo>
                <a:lnTo>
                  <a:pt x="17841" y="3851812"/>
                </a:lnTo>
                <a:cubicBezTo>
                  <a:pt x="15571" y="3651484"/>
                  <a:pt x="26219" y="3546077"/>
                  <a:pt x="24551" y="3386181"/>
                </a:cubicBezTo>
                <a:lnTo>
                  <a:pt x="24397" y="3379573"/>
                </a:lnTo>
                <a:lnTo>
                  <a:pt x="22173" y="3327681"/>
                </a:lnTo>
                <a:cubicBezTo>
                  <a:pt x="20895" y="3304536"/>
                  <a:pt x="19446" y="3284181"/>
                  <a:pt x="17841" y="3267510"/>
                </a:cubicBezTo>
                <a:cubicBezTo>
                  <a:pt x="8213" y="3167488"/>
                  <a:pt x="-3113" y="2984082"/>
                  <a:pt x="3931" y="2799801"/>
                </a:cubicBezTo>
                <a:lnTo>
                  <a:pt x="4125" y="2797274"/>
                </a:lnTo>
                <a:lnTo>
                  <a:pt x="3717" y="2776150"/>
                </a:lnTo>
                <a:cubicBezTo>
                  <a:pt x="3237" y="2640023"/>
                  <a:pt x="7465" y="2516197"/>
                  <a:pt x="17841" y="2423520"/>
                </a:cubicBezTo>
                <a:cubicBezTo>
                  <a:pt x="20435" y="2400350"/>
                  <a:pt x="22069" y="2375698"/>
                  <a:pt x="22982" y="2349684"/>
                </a:cubicBezTo>
                <a:lnTo>
                  <a:pt x="23157" y="2331991"/>
                </a:lnTo>
                <a:lnTo>
                  <a:pt x="21648" y="2290240"/>
                </a:lnTo>
                <a:cubicBezTo>
                  <a:pt x="18695" y="2240502"/>
                  <a:pt x="15426" y="2193755"/>
                  <a:pt x="14054" y="2150784"/>
                </a:cubicBezTo>
                <a:lnTo>
                  <a:pt x="17291" y="2050968"/>
                </a:lnTo>
                <a:lnTo>
                  <a:pt x="12351" y="1872365"/>
                </a:lnTo>
                <a:cubicBezTo>
                  <a:pt x="11665" y="1799113"/>
                  <a:pt x="12859" y="1722821"/>
                  <a:pt x="17841" y="1644450"/>
                </a:cubicBezTo>
                <a:lnTo>
                  <a:pt x="21169" y="1569934"/>
                </a:lnTo>
                <a:lnTo>
                  <a:pt x="20488" y="1547698"/>
                </a:lnTo>
                <a:cubicBezTo>
                  <a:pt x="19568" y="1516527"/>
                  <a:pt x="18663" y="1483900"/>
                  <a:pt x="17841" y="1449683"/>
                </a:cubicBezTo>
                <a:cubicBezTo>
                  <a:pt x="11271" y="1175953"/>
                  <a:pt x="1415" y="1152151"/>
                  <a:pt x="17841" y="995226"/>
                </a:cubicBezTo>
                <a:lnTo>
                  <a:pt x="19885" y="968921"/>
                </a:lnTo>
                <a:lnTo>
                  <a:pt x="17841" y="930304"/>
                </a:lnTo>
                <a:cubicBezTo>
                  <a:pt x="7442" y="768208"/>
                  <a:pt x="7865" y="285783"/>
                  <a:pt x="17841" y="21390"/>
                </a:cubicBezTo>
                <a:cubicBezTo>
                  <a:pt x="147136" y="10433"/>
                  <a:pt x="296588" y="9602"/>
                  <a:pt x="440468" y="11925"/>
                </a:cubicBezTo>
                <a:lnTo>
                  <a:pt x="473966" y="12726"/>
                </a:lnTo>
                <a:lnTo>
                  <a:pt x="478805" y="12539"/>
                </a:lnTo>
                <a:lnTo>
                  <a:pt x="484496" y="12977"/>
                </a:lnTo>
                <a:lnTo>
                  <a:pt x="648894" y="16905"/>
                </a:lnTo>
                <a:cubicBezTo>
                  <a:pt x="714833" y="18773"/>
                  <a:pt x="776163" y="20559"/>
                  <a:pt x="829667" y="21390"/>
                </a:cubicBezTo>
                <a:lnTo>
                  <a:pt x="916694" y="22693"/>
                </a:lnTo>
                <a:lnTo>
                  <a:pt x="933747" y="21390"/>
                </a:lnTo>
                <a:cubicBezTo>
                  <a:pt x="1086511" y="12604"/>
                  <a:pt x="1591110" y="15003"/>
                  <a:pt x="1863531" y="21390"/>
                </a:cubicBezTo>
                <a:lnTo>
                  <a:pt x="1920387" y="22646"/>
                </a:lnTo>
                <a:lnTo>
                  <a:pt x="2054705" y="24358"/>
                </a:lnTo>
                <a:cubicBezTo>
                  <a:pt x="2107717" y="24456"/>
                  <a:pt x="2161143" y="23719"/>
                  <a:pt x="2217404" y="21390"/>
                </a:cubicBezTo>
                <a:cubicBezTo>
                  <a:pt x="2442445" y="12073"/>
                  <a:pt x="2732199" y="18194"/>
                  <a:pt x="2911273" y="21390"/>
                </a:cubicBezTo>
                <a:lnTo>
                  <a:pt x="3023675" y="20799"/>
                </a:lnTo>
                <a:lnTo>
                  <a:pt x="3093869" y="15816"/>
                </a:lnTo>
                <a:cubicBezTo>
                  <a:pt x="3182922" y="11551"/>
                  <a:pt x="3301373" y="10993"/>
                  <a:pt x="3429365" y="12165"/>
                </a:cubicBezTo>
                <a:lnTo>
                  <a:pt x="3575555" y="14425"/>
                </a:lnTo>
                <a:lnTo>
                  <a:pt x="3605772" y="13210"/>
                </a:lnTo>
                <a:cubicBezTo>
                  <a:pt x="3774503" y="6974"/>
                  <a:pt x="3960371" y="3465"/>
                  <a:pt x="4063093" y="21390"/>
                </a:cubicBezTo>
                <a:lnTo>
                  <a:pt x="4088792" y="24677"/>
                </a:lnTo>
                <a:lnTo>
                  <a:pt x="4129769" y="25744"/>
                </a:lnTo>
                <a:cubicBezTo>
                  <a:pt x="4269845" y="29597"/>
                  <a:pt x="4297423" y="30995"/>
                  <a:pt x="4403088" y="21390"/>
                </a:cubicBezTo>
                <a:cubicBezTo>
                  <a:pt x="4473592" y="10814"/>
                  <a:pt x="4858406" y="-6032"/>
                  <a:pt x="5096956" y="21390"/>
                </a:cubicBezTo>
                <a:lnTo>
                  <a:pt x="5251798" y="27914"/>
                </a:lnTo>
                <a:lnTo>
                  <a:pt x="5332872" y="21390"/>
                </a:lnTo>
                <a:cubicBezTo>
                  <a:pt x="5422885" y="11295"/>
                  <a:pt x="5502187" y="8863"/>
                  <a:pt x="5576462" y="10240"/>
                </a:cubicBezTo>
                <a:lnTo>
                  <a:pt x="5700011" y="17015"/>
                </a:lnTo>
                <a:lnTo>
                  <a:pt x="5761151" y="15143"/>
                </a:lnTo>
                <a:cubicBezTo>
                  <a:pt x="5846776" y="14123"/>
                  <a:pt x="5935566" y="15403"/>
                  <a:pt x="6026740" y="21390"/>
                </a:cubicBezTo>
                <a:lnTo>
                  <a:pt x="6161088" y="29209"/>
                </a:lnTo>
                <a:lnTo>
                  <a:pt x="6262655" y="21390"/>
                </a:lnTo>
                <a:cubicBezTo>
                  <a:pt x="6405549" y="5694"/>
                  <a:pt x="6517747" y="175"/>
                  <a:pt x="6610089" y="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95126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DCF39-36B4-1BF3-758F-B5F6470A1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95D0D1-FA29-EB4B-6BD6-2ABE23421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Enfoque cuantitativo</a:t>
            </a:r>
          </a:p>
        </p:txBody>
      </p:sp>
      <p:pic>
        <p:nvPicPr>
          <p:cNvPr id="5" name="Marcador de contenido 4" descr="Diagrama&#10;&#10;El contenido generado por IA puede ser incorrecto.">
            <a:extLst>
              <a:ext uri="{FF2B5EF4-FFF2-40B4-BE49-F238E27FC236}">
                <a16:creationId xmlns:a16="http://schemas.microsoft.com/office/drawing/2014/main" id="{CDB7A6E9-562A-F064-DA19-7FFFA3B1A5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9047" y="2176919"/>
            <a:ext cx="11514902" cy="448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821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57411C-2715-4211-B3E6-5859B23D9F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1" y="2155371"/>
            <a:ext cx="10700656" cy="439795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s-MX" sz="2400" b="1" dirty="0">
                <a:solidFill>
                  <a:srgbClr val="7030A0"/>
                </a:solidFill>
                <a:latin typeface="+mj-lt"/>
              </a:rPr>
              <a:t>Antecedentes</a:t>
            </a:r>
          </a:p>
          <a:p>
            <a:pPr marL="0" indent="0">
              <a:buNone/>
            </a:pPr>
            <a:r>
              <a:rPr lang="es-CR" sz="2100" dirty="0">
                <a:solidFill>
                  <a:schemeClr val="tx1"/>
                </a:solidFill>
                <a:latin typeface="Segoe UI Light" panose="020B0502040204020203" pitchFamily="34" charset="0"/>
              </a:rPr>
              <a:t>Se toma en consideración investigaciones anteriores vinculadas con el problema de investigación</a:t>
            </a:r>
          </a:p>
          <a:p>
            <a:pPr marL="0" indent="0" algn="l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endParaRPr lang="es-CR" sz="2100" dirty="0">
              <a:solidFill>
                <a:schemeClr val="tx1"/>
              </a:solidFill>
              <a:latin typeface="Segoe UI Light" panose="020B0502040204020203" pitchFamily="34" charset="0"/>
            </a:endParaRPr>
          </a:p>
          <a:p>
            <a:pPr marL="0" indent="0" algn="l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s-CR" sz="2100" dirty="0">
                <a:solidFill>
                  <a:schemeClr val="tx1"/>
                </a:solidFill>
                <a:latin typeface="Segoe UI Light" panose="020B0502040204020203" pitchFamily="34" charset="0"/>
              </a:rPr>
              <a:t>F</a:t>
            </a:r>
            <a:r>
              <a:rPr lang="es-CR" sz="2100" b="0" i="0" u="none" strike="noStrike" kern="1200" dirty="0">
                <a:solidFill>
                  <a:schemeClr val="tx1"/>
                </a:solidFill>
                <a:effectLst/>
                <a:latin typeface="Segoe UI Light" panose="020B0502040204020203" pitchFamily="34" charset="0"/>
              </a:rPr>
              <a:t>uentes: Primarias. Trabajos  empíricos. Nacionales</a:t>
            </a:r>
            <a:r>
              <a:rPr lang="es-CR" sz="2100" b="0" i="0" u="none" strike="noStrike" kern="1200" baseline="0" dirty="0">
                <a:solidFill>
                  <a:schemeClr val="tx1"/>
                </a:solidFill>
                <a:effectLst/>
                <a:latin typeface="Segoe UI Light" panose="020B0502040204020203" pitchFamily="34" charset="0"/>
              </a:rPr>
              <a:t> e internacionales. Actuales.</a:t>
            </a:r>
            <a:endParaRPr lang="es-CR" sz="2100" b="0" i="0" u="none" strike="noStrike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algn="l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endParaRPr lang="es-CR" sz="2100" b="0" i="0" u="none" strike="noStrike" kern="1200" dirty="0">
              <a:solidFill>
                <a:schemeClr val="tx1"/>
              </a:solidFill>
              <a:effectLst/>
              <a:latin typeface="Segoe UI Light" panose="020B0502040204020203" pitchFamily="34" charset="0"/>
            </a:endParaRPr>
          </a:p>
          <a:p>
            <a:pPr marL="0" indent="0" algn="l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s-CR" sz="2100" b="0" i="0" u="none" strike="noStrike" kern="1200" dirty="0">
                <a:solidFill>
                  <a:schemeClr val="tx1"/>
                </a:solidFill>
                <a:effectLst/>
                <a:latin typeface="Segoe UI Light" panose="020B0502040204020203" pitchFamily="34" charset="0"/>
              </a:rPr>
              <a:t>Resumen: Propósito de la investigación, participantes, medición de las variables de interés y resultados principales. </a:t>
            </a:r>
            <a:endParaRPr lang="es-CR" sz="2100" b="0" i="0" u="none" strike="noStrike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  <a:buNone/>
            </a:pPr>
            <a:endParaRPr lang="es-CR" sz="2100" b="0" i="0" u="none" strike="noStrike" kern="1200" dirty="0">
              <a:solidFill>
                <a:schemeClr val="tx1"/>
              </a:solidFill>
              <a:effectLst/>
              <a:latin typeface="Segoe UI Light" panose="020B0502040204020203" pitchFamily="34" charset="0"/>
            </a:endParaRPr>
          </a:p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s-CR" sz="2100" b="0" i="0" u="none" strike="noStrike" kern="1200" dirty="0">
                <a:solidFill>
                  <a:schemeClr val="tx1"/>
                </a:solidFill>
                <a:effectLst/>
                <a:latin typeface="Segoe UI Light" panose="020B0502040204020203" pitchFamily="34" charset="0"/>
              </a:rPr>
              <a:t>Balance crítico:  Incluir alcances de lo hasta ahora estudiado, principales conocimientos adquiridos, pero también incluir limitaciones conceptuales deficiencias metodológicas y sobre todo evidenciar sesgos en los supuestos, etc. Evidenciar los vacíos y puntos ciegos, describir dónde se ubica su trabajo, qué problemas resuelve, qué vacíos llena. </a:t>
            </a:r>
            <a:endParaRPr lang="es-CR" sz="2100" b="0" i="0" u="none" strike="noStrike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s-C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EA2BA45-9EA6-17E5-C34A-82226F57F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670"/>
            <a:ext cx="10515600" cy="1325563"/>
          </a:xfrm>
        </p:spPr>
        <p:txBody>
          <a:bodyPr>
            <a:normAutofit/>
          </a:bodyPr>
          <a:lstStyle/>
          <a:p>
            <a:r>
              <a:rPr lang="es-CR" sz="2800" dirty="0"/>
              <a:t>La revisión literaria es fundamental para el desarrollo de proyectos de investigación </a:t>
            </a:r>
          </a:p>
        </p:txBody>
      </p:sp>
    </p:spTree>
    <p:extLst>
      <p:ext uri="{BB962C8B-B14F-4D97-AF65-F5344CB8AC3E}">
        <p14:creationId xmlns:p14="http://schemas.microsoft.com/office/powerpoint/2010/main" val="1141100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7">
            <a:extLst>
              <a:ext uri="{FF2B5EF4-FFF2-40B4-BE49-F238E27FC236}">
                <a16:creationId xmlns:a16="http://schemas.microsoft.com/office/drawing/2014/main" id="{6D7993FA-482D-40A2-BD7B-EBB6AE1CA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1B7BF4D-90D4-48A5-A8D2-B70F1D64F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3464" y="643467"/>
            <a:ext cx="3447288" cy="5571066"/>
          </a:xfrm>
        </p:spPr>
        <p:txBody>
          <a:bodyPr anchor="ctr">
            <a:normAutofit/>
          </a:bodyPr>
          <a:lstStyle/>
          <a:p>
            <a:r>
              <a:rPr lang="es-MX" sz="6100" dirty="0">
                <a:solidFill>
                  <a:schemeClr val="accent1"/>
                </a:solidFill>
              </a:rPr>
              <a:t>Paradoja</a:t>
            </a:r>
            <a:endParaRPr lang="es-CR" sz="6100" dirty="0">
              <a:solidFill>
                <a:schemeClr val="accent1"/>
              </a:solidFill>
            </a:endParaRPr>
          </a:p>
        </p:txBody>
      </p:sp>
      <p:sp>
        <p:nvSpPr>
          <p:cNvPr id="13" name="Freeform: Shape 9">
            <a:extLst>
              <a:ext uri="{FF2B5EF4-FFF2-40B4-BE49-F238E27FC236}">
                <a16:creationId xmlns:a16="http://schemas.microsoft.com/office/drawing/2014/main" id="{3AE8634F-51AB-499B-BC73-009FB463E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384987" cy="6858000"/>
          </a:xfrm>
          <a:custGeom>
            <a:avLst/>
            <a:gdLst>
              <a:gd name="connsiteX0" fmla="*/ 0 w 7384987"/>
              <a:gd name="connsiteY0" fmla="*/ 0 h 6858000"/>
              <a:gd name="connsiteX1" fmla="*/ 7366172 w 7384987"/>
              <a:gd name="connsiteY1" fmla="*/ 0 h 6858000"/>
              <a:gd name="connsiteX2" fmla="*/ 7359733 w 7384987"/>
              <a:gd name="connsiteY2" fmla="*/ 160754 h 6858000"/>
              <a:gd name="connsiteX3" fmla="*/ 7363789 w 7384987"/>
              <a:gd name="connsiteY3" fmla="*/ 350870 h 6858000"/>
              <a:gd name="connsiteX4" fmla="*/ 7364804 w 7384987"/>
              <a:gd name="connsiteY4" fmla="*/ 738248 h 6858000"/>
              <a:gd name="connsiteX5" fmla="*/ 7363917 w 7384987"/>
              <a:gd name="connsiteY5" fmla="*/ 1051329 h 6858000"/>
              <a:gd name="connsiteX6" fmla="*/ 7369069 w 7384987"/>
              <a:gd name="connsiteY6" fmla="*/ 1216617 h 6858000"/>
              <a:gd name="connsiteX7" fmla="*/ 7370433 w 7384987"/>
              <a:gd name="connsiteY7" fmla="*/ 1216617 h 6858000"/>
              <a:gd name="connsiteX8" fmla="*/ 7370810 w 7384987"/>
              <a:gd name="connsiteY8" fmla="*/ 1241159 h 6858000"/>
              <a:gd name="connsiteX9" fmla="*/ 7368946 w 7384987"/>
              <a:gd name="connsiteY9" fmla="*/ 1298998 h 6858000"/>
              <a:gd name="connsiteX10" fmla="*/ 7368583 w 7384987"/>
              <a:gd name="connsiteY10" fmla="*/ 1314450 h 6858000"/>
              <a:gd name="connsiteX11" fmla="*/ 7368448 w 7384987"/>
              <a:gd name="connsiteY11" fmla="*/ 1314450 h 6858000"/>
              <a:gd name="connsiteX12" fmla="*/ 7364030 w 7384987"/>
              <a:gd name="connsiteY12" fmla="*/ 1451529 h 6858000"/>
              <a:gd name="connsiteX13" fmla="*/ 7372921 w 7384987"/>
              <a:gd name="connsiteY13" fmla="*/ 1777349 h 6858000"/>
              <a:gd name="connsiteX14" fmla="*/ 7360218 w 7384987"/>
              <a:gd name="connsiteY14" fmla="*/ 2237181 h 6858000"/>
              <a:gd name="connsiteX15" fmla="*/ 7363394 w 7384987"/>
              <a:gd name="connsiteY15" fmla="*/ 2901271 h 6858000"/>
              <a:gd name="connsiteX16" fmla="*/ 7384987 w 7384987"/>
              <a:gd name="connsiteY16" fmla="*/ 3385366 h 6858000"/>
              <a:gd name="connsiteX17" fmla="*/ 7362505 w 7384987"/>
              <a:gd name="connsiteY17" fmla="*/ 3749928 h 6858000"/>
              <a:gd name="connsiteX18" fmla="*/ 7361488 w 7384987"/>
              <a:gd name="connsiteY18" fmla="*/ 4167080 h 6858000"/>
              <a:gd name="connsiteX19" fmla="*/ 7366315 w 7384987"/>
              <a:gd name="connsiteY19" fmla="*/ 4538757 h 6858000"/>
              <a:gd name="connsiteX20" fmla="*/ 7373684 w 7384987"/>
              <a:gd name="connsiteY20" fmla="*/ 4950193 h 6858000"/>
              <a:gd name="connsiteX21" fmla="*/ 7356280 w 7384987"/>
              <a:gd name="connsiteY21" fmla="*/ 5366074 h 6858000"/>
              <a:gd name="connsiteX22" fmla="*/ 7356280 w 7384987"/>
              <a:gd name="connsiteY22" fmla="*/ 5739911 h 6858000"/>
              <a:gd name="connsiteX23" fmla="*/ 7376478 w 7384987"/>
              <a:gd name="connsiteY23" fmla="*/ 6321306 h 6858000"/>
              <a:gd name="connsiteX24" fmla="*/ 7367793 w 7384987"/>
              <a:gd name="connsiteY24" fmla="*/ 6858000 h 6858000"/>
              <a:gd name="connsiteX25" fmla="*/ 0 w 7384987"/>
              <a:gd name="connsiteY2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7384987" h="6858000">
                <a:moveTo>
                  <a:pt x="0" y="0"/>
                </a:moveTo>
                <a:lnTo>
                  <a:pt x="7366172" y="0"/>
                </a:lnTo>
                <a:lnTo>
                  <a:pt x="7359733" y="160754"/>
                </a:lnTo>
                <a:cubicBezTo>
                  <a:pt x="7359139" y="224139"/>
                  <a:pt x="7360491" y="287545"/>
                  <a:pt x="7363789" y="350870"/>
                </a:cubicBezTo>
                <a:cubicBezTo>
                  <a:pt x="7372315" y="479826"/>
                  <a:pt x="7372646" y="609245"/>
                  <a:pt x="7364804" y="738248"/>
                </a:cubicBezTo>
                <a:cubicBezTo>
                  <a:pt x="7358232" y="842483"/>
                  <a:pt x="7357929" y="947053"/>
                  <a:pt x="7363917" y="1051329"/>
                </a:cubicBezTo>
                <a:lnTo>
                  <a:pt x="7369069" y="1216617"/>
                </a:lnTo>
                <a:lnTo>
                  <a:pt x="7370433" y="1216617"/>
                </a:lnTo>
                <a:lnTo>
                  <a:pt x="7370810" y="1241159"/>
                </a:lnTo>
                <a:lnTo>
                  <a:pt x="7368946" y="1298998"/>
                </a:lnTo>
                <a:lnTo>
                  <a:pt x="7368583" y="1314450"/>
                </a:lnTo>
                <a:lnTo>
                  <a:pt x="7368448" y="1314450"/>
                </a:lnTo>
                <a:lnTo>
                  <a:pt x="7364030" y="1451529"/>
                </a:lnTo>
                <a:cubicBezTo>
                  <a:pt x="7358313" y="1560263"/>
                  <a:pt x="7366950" y="1668870"/>
                  <a:pt x="7372921" y="1777349"/>
                </a:cubicBezTo>
                <a:cubicBezTo>
                  <a:pt x="7381432" y="1931051"/>
                  <a:pt x="7371270" y="2084116"/>
                  <a:pt x="7360218" y="2237181"/>
                </a:cubicBezTo>
                <a:cubicBezTo>
                  <a:pt x="7344975" y="2458587"/>
                  <a:pt x="7353486" y="2679992"/>
                  <a:pt x="7363394" y="2901271"/>
                </a:cubicBezTo>
                <a:cubicBezTo>
                  <a:pt x="7370635" y="3062594"/>
                  <a:pt x="7383210" y="3223789"/>
                  <a:pt x="7384987" y="3385366"/>
                </a:cubicBezTo>
                <a:cubicBezTo>
                  <a:pt x="7385051" y="3507234"/>
                  <a:pt x="7377544" y="3628988"/>
                  <a:pt x="7362505" y="3749928"/>
                </a:cubicBezTo>
                <a:cubicBezTo>
                  <a:pt x="7346880" y="3888895"/>
                  <a:pt x="7353613" y="4027988"/>
                  <a:pt x="7361488" y="4167080"/>
                </a:cubicBezTo>
                <a:cubicBezTo>
                  <a:pt x="7368348" y="4290930"/>
                  <a:pt x="7368729" y="4414907"/>
                  <a:pt x="7366315" y="4538757"/>
                </a:cubicBezTo>
                <a:cubicBezTo>
                  <a:pt x="7363648" y="4676072"/>
                  <a:pt x="7364283" y="4813259"/>
                  <a:pt x="7373684" y="4950193"/>
                </a:cubicBezTo>
                <a:cubicBezTo>
                  <a:pt x="7384416" y="5089018"/>
                  <a:pt x="7378574" y="5228633"/>
                  <a:pt x="7356280" y="5366074"/>
                </a:cubicBezTo>
                <a:cubicBezTo>
                  <a:pt x="7335448" y="5490178"/>
                  <a:pt x="7341165" y="5615552"/>
                  <a:pt x="7356280" y="5739911"/>
                </a:cubicBezTo>
                <a:cubicBezTo>
                  <a:pt x="7379526" y="5933243"/>
                  <a:pt x="7379526" y="6127211"/>
                  <a:pt x="7376478" y="6321306"/>
                </a:cubicBezTo>
                <a:lnTo>
                  <a:pt x="7367793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BE1583-4BDD-43C7-859F-1345DB84D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643467"/>
            <a:ext cx="5788152" cy="557106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R" sz="4400" b="1" dirty="0">
                <a:solidFill>
                  <a:schemeClr val="bg1"/>
                </a:solidFill>
              </a:rPr>
              <a:t>No se puede hacer una revisión de antecedentes sin un conocimiento previo de lo que se quiere investigar, pero el proceso de revisión es clave para saber qué se quiere investigar…</a:t>
            </a:r>
          </a:p>
          <a:p>
            <a:pPr marL="0" indent="0">
              <a:buNone/>
            </a:pPr>
            <a:endParaRPr lang="es-C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761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3DAA0EF-336D-4CDC-A9A2-8460363E2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D079A19-B31E-4129-A464-7547FF05A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90556" cy="6858000"/>
          </a:xfrm>
          <a:custGeom>
            <a:avLst/>
            <a:gdLst>
              <a:gd name="connsiteX0" fmla="*/ 0 w 4090556"/>
              <a:gd name="connsiteY0" fmla="*/ 0 h 6858000"/>
              <a:gd name="connsiteX1" fmla="*/ 4077555 w 4090556"/>
              <a:gd name="connsiteY1" fmla="*/ 0 h 6858000"/>
              <a:gd name="connsiteX2" fmla="*/ 4077574 w 4090556"/>
              <a:gd name="connsiteY2" fmla="*/ 720 h 6858000"/>
              <a:gd name="connsiteX3" fmla="*/ 4075790 w 4090556"/>
              <a:gd name="connsiteY3" fmla="*/ 575485 h 6858000"/>
              <a:gd name="connsiteX4" fmla="*/ 4076555 w 4090556"/>
              <a:gd name="connsiteY4" fmla="*/ 932245 h 6858000"/>
              <a:gd name="connsiteX5" fmla="*/ 4076555 w 4090556"/>
              <a:gd name="connsiteY5" fmla="*/ 1286711 h 6858000"/>
              <a:gd name="connsiteX6" fmla="*/ 4082288 w 4090556"/>
              <a:gd name="connsiteY6" fmla="*/ 1595180 h 6858000"/>
              <a:gd name="connsiteX7" fmla="*/ 4078211 w 4090556"/>
              <a:gd name="connsiteY7" fmla="*/ 2133123 h 6858000"/>
              <a:gd name="connsiteX8" fmla="*/ 4071968 w 4090556"/>
              <a:gd name="connsiteY8" fmla="*/ 2946025 h 6858000"/>
              <a:gd name="connsiteX9" fmla="*/ 4068401 w 4090556"/>
              <a:gd name="connsiteY9" fmla="*/ 3502061 h 6858000"/>
              <a:gd name="connsiteX10" fmla="*/ 4087513 w 4090556"/>
              <a:gd name="connsiteY10" fmla="*/ 4076061 h 6858000"/>
              <a:gd name="connsiteX11" fmla="*/ 4076938 w 4090556"/>
              <a:gd name="connsiteY11" fmla="*/ 4442632 h 6858000"/>
              <a:gd name="connsiteX12" fmla="*/ 4071459 w 4090556"/>
              <a:gd name="connsiteY12" fmla="*/ 4827550 h 6858000"/>
              <a:gd name="connsiteX13" fmla="*/ 4071459 w 4090556"/>
              <a:gd name="connsiteY13" fmla="*/ 5019945 h 6858000"/>
              <a:gd name="connsiteX14" fmla="*/ 4084200 w 4090556"/>
              <a:gd name="connsiteY14" fmla="*/ 5490104 h 6858000"/>
              <a:gd name="connsiteX15" fmla="*/ 4077446 w 4090556"/>
              <a:gd name="connsiteY15" fmla="*/ 5844569 h 6858000"/>
              <a:gd name="connsiteX16" fmla="*/ 4082544 w 4090556"/>
              <a:gd name="connsiteY16" fmla="*/ 6260195 h 6858000"/>
              <a:gd name="connsiteX17" fmla="*/ 4086110 w 4090556"/>
              <a:gd name="connsiteY17" fmla="*/ 6706145 h 6858000"/>
              <a:gd name="connsiteX18" fmla="*/ 4086135 w 4090556"/>
              <a:gd name="connsiteY18" fmla="*/ 6794562 h 6858000"/>
              <a:gd name="connsiteX19" fmla="*/ 4080334 w 4090556"/>
              <a:gd name="connsiteY19" fmla="*/ 6858000 h 6858000"/>
              <a:gd name="connsiteX20" fmla="*/ 0 w 4090556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090556" h="6858000">
                <a:moveTo>
                  <a:pt x="0" y="0"/>
                </a:moveTo>
                <a:lnTo>
                  <a:pt x="4077555" y="0"/>
                </a:lnTo>
                <a:lnTo>
                  <a:pt x="4077574" y="720"/>
                </a:lnTo>
                <a:cubicBezTo>
                  <a:pt x="4079358" y="192351"/>
                  <a:pt x="4064960" y="384364"/>
                  <a:pt x="4075790" y="575485"/>
                </a:cubicBezTo>
                <a:cubicBezTo>
                  <a:pt x="4082544" y="694108"/>
                  <a:pt x="4081269" y="814132"/>
                  <a:pt x="4076555" y="932245"/>
                </a:cubicBezTo>
                <a:cubicBezTo>
                  <a:pt x="4071840" y="1050357"/>
                  <a:pt x="4065470" y="1168597"/>
                  <a:pt x="4076555" y="1286711"/>
                </a:cubicBezTo>
                <a:cubicBezTo>
                  <a:pt x="4084710" y="1389317"/>
                  <a:pt x="4086621" y="1492332"/>
                  <a:pt x="4082288" y="1595180"/>
                </a:cubicBezTo>
                <a:cubicBezTo>
                  <a:pt x="4077319" y="1774452"/>
                  <a:pt x="4067637" y="1953851"/>
                  <a:pt x="4078211" y="2133123"/>
                </a:cubicBezTo>
                <a:cubicBezTo>
                  <a:pt x="4094393" y="2404260"/>
                  <a:pt x="4084710" y="2675143"/>
                  <a:pt x="4071968" y="2946025"/>
                </a:cubicBezTo>
                <a:cubicBezTo>
                  <a:pt x="4063049" y="3131413"/>
                  <a:pt x="4055659" y="3316673"/>
                  <a:pt x="4068401" y="3502061"/>
                </a:cubicBezTo>
                <a:cubicBezTo>
                  <a:pt x="4081396" y="3693182"/>
                  <a:pt x="4097323" y="3884176"/>
                  <a:pt x="4087513" y="4076061"/>
                </a:cubicBezTo>
                <a:cubicBezTo>
                  <a:pt x="4081142" y="4198251"/>
                  <a:pt x="4069037" y="4320315"/>
                  <a:pt x="4076938" y="4442632"/>
                </a:cubicBezTo>
                <a:cubicBezTo>
                  <a:pt x="4083270" y="4570925"/>
                  <a:pt x="4081435" y="4699486"/>
                  <a:pt x="4071459" y="4827550"/>
                </a:cubicBezTo>
                <a:cubicBezTo>
                  <a:pt x="4065725" y="4891550"/>
                  <a:pt x="4065725" y="4955945"/>
                  <a:pt x="4071459" y="5019945"/>
                </a:cubicBezTo>
                <a:cubicBezTo>
                  <a:pt x="4087742" y="5176105"/>
                  <a:pt x="4091997" y="5333296"/>
                  <a:pt x="4084200" y="5490104"/>
                </a:cubicBezTo>
                <a:cubicBezTo>
                  <a:pt x="4079740" y="5608217"/>
                  <a:pt x="4071968" y="5726202"/>
                  <a:pt x="4077446" y="5844569"/>
                </a:cubicBezTo>
                <a:cubicBezTo>
                  <a:pt x="4083944" y="5983069"/>
                  <a:pt x="4088914" y="6121696"/>
                  <a:pt x="4082544" y="6260195"/>
                </a:cubicBezTo>
                <a:cubicBezTo>
                  <a:pt x="4075841" y="6408803"/>
                  <a:pt x="4077026" y="6557662"/>
                  <a:pt x="4086110" y="6706145"/>
                </a:cubicBezTo>
                <a:cubicBezTo>
                  <a:pt x="4087467" y="6735616"/>
                  <a:pt x="4087474" y="6765120"/>
                  <a:pt x="4086135" y="6794562"/>
                </a:cubicBezTo>
                <a:lnTo>
                  <a:pt x="4080334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A3F961-8DE7-4239-838B-DA8A1811B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1" y="640823"/>
            <a:ext cx="3103194" cy="558314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CR" sz="3700" dirty="0">
                <a:solidFill>
                  <a:schemeClr val="bg1"/>
                </a:solidFill>
              </a:rPr>
              <a:t>5 funciones importantes de la revisión de antecedentes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67854A88-2B9A-44CC-9FAE-D4C82E021E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4415343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08050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3DAA0EF-336D-4CDC-A9A2-8460363E2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D079A19-B31E-4129-A464-7547FF05A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90556" cy="6858000"/>
          </a:xfrm>
          <a:custGeom>
            <a:avLst/>
            <a:gdLst>
              <a:gd name="connsiteX0" fmla="*/ 0 w 4090556"/>
              <a:gd name="connsiteY0" fmla="*/ 0 h 6858000"/>
              <a:gd name="connsiteX1" fmla="*/ 4077555 w 4090556"/>
              <a:gd name="connsiteY1" fmla="*/ 0 h 6858000"/>
              <a:gd name="connsiteX2" fmla="*/ 4077574 w 4090556"/>
              <a:gd name="connsiteY2" fmla="*/ 720 h 6858000"/>
              <a:gd name="connsiteX3" fmla="*/ 4075790 w 4090556"/>
              <a:gd name="connsiteY3" fmla="*/ 575485 h 6858000"/>
              <a:gd name="connsiteX4" fmla="*/ 4076555 w 4090556"/>
              <a:gd name="connsiteY4" fmla="*/ 932245 h 6858000"/>
              <a:gd name="connsiteX5" fmla="*/ 4076555 w 4090556"/>
              <a:gd name="connsiteY5" fmla="*/ 1286711 h 6858000"/>
              <a:gd name="connsiteX6" fmla="*/ 4082288 w 4090556"/>
              <a:gd name="connsiteY6" fmla="*/ 1595180 h 6858000"/>
              <a:gd name="connsiteX7" fmla="*/ 4078211 w 4090556"/>
              <a:gd name="connsiteY7" fmla="*/ 2133123 h 6858000"/>
              <a:gd name="connsiteX8" fmla="*/ 4071968 w 4090556"/>
              <a:gd name="connsiteY8" fmla="*/ 2946025 h 6858000"/>
              <a:gd name="connsiteX9" fmla="*/ 4068401 w 4090556"/>
              <a:gd name="connsiteY9" fmla="*/ 3502061 h 6858000"/>
              <a:gd name="connsiteX10" fmla="*/ 4087513 w 4090556"/>
              <a:gd name="connsiteY10" fmla="*/ 4076061 h 6858000"/>
              <a:gd name="connsiteX11" fmla="*/ 4076938 w 4090556"/>
              <a:gd name="connsiteY11" fmla="*/ 4442632 h 6858000"/>
              <a:gd name="connsiteX12" fmla="*/ 4071459 w 4090556"/>
              <a:gd name="connsiteY12" fmla="*/ 4827550 h 6858000"/>
              <a:gd name="connsiteX13" fmla="*/ 4071459 w 4090556"/>
              <a:gd name="connsiteY13" fmla="*/ 5019945 h 6858000"/>
              <a:gd name="connsiteX14" fmla="*/ 4084200 w 4090556"/>
              <a:gd name="connsiteY14" fmla="*/ 5490104 h 6858000"/>
              <a:gd name="connsiteX15" fmla="*/ 4077446 w 4090556"/>
              <a:gd name="connsiteY15" fmla="*/ 5844569 h 6858000"/>
              <a:gd name="connsiteX16" fmla="*/ 4082544 w 4090556"/>
              <a:gd name="connsiteY16" fmla="*/ 6260195 h 6858000"/>
              <a:gd name="connsiteX17" fmla="*/ 4086110 w 4090556"/>
              <a:gd name="connsiteY17" fmla="*/ 6706145 h 6858000"/>
              <a:gd name="connsiteX18" fmla="*/ 4086135 w 4090556"/>
              <a:gd name="connsiteY18" fmla="*/ 6794562 h 6858000"/>
              <a:gd name="connsiteX19" fmla="*/ 4080334 w 4090556"/>
              <a:gd name="connsiteY19" fmla="*/ 6858000 h 6858000"/>
              <a:gd name="connsiteX20" fmla="*/ 0 w 4090556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090556" h="6858000">
                <a:moveTo>
                  <a:pt x="0" y="0"/>
                </a:moveTo>
                <a:lnTo>
                  <a:pt x="4077555" y="0"/>
                </a:lnTo>
                <a:lnTo>
                  <a:pt x="4077574" y="720"/>
                </a:lnTo>
                <a:cubicBezTo>
                  <a:pt x="4079358" y="192351"/>
                  <a:pt x="4064960" y="384364"/>
                  <a:pt x="4075790" y="575485"/>
                </a:cubicBezTo>
                <a:cubicBezTo>
                  <a:pt x="4082544" y="694108"/>
                  <a:pt x="4081269" y="814132"/>
                  <a:pt x="4076555" y="932245"/>
                </a:cubicBezTo>
                <a:cubicBezTo>
                  <a:pt x="4071840" y="1050357"/>
                  <a:pt x="4065470" y="1168597"/>
                  <a:pt x="4076555" y="1286711"/>
                </a:cubicBezTo>
                <a:cubicBezTo>
                  <a:pt x="4084710" y="1389317"/>
                  <a:pt x="4086621" y="1492332"/>
                  <a:pt x="4082288" y="1595180"/>
                </a:cubicBezTo>
                <a:cubicBezTo>
                  <a:pt x="4077319" y="1774452"/>
                  <a:pt x="4067637" y="1953851"/>
                  <a:pt x="4078211" y="2133123"/>
                </a:cubicBezTo>
                <a:cubicBezTo>
                  <a:pt x="4094393" y="2404260"/>
                  <a:pt x="4084710" y="2675143"/>
                  <a:pt x="4071968" y="2946025"/>
                </a:cubicBezTo>
                <a:cubicBezTo>
                  <a:pt x="4063049" y="3131413"/>
                  <a:pt x="4055659" y="3316673"/>
                  <a:pt x="4068401" y="3502061"/>
                </a:cubicBezTo>
                <a:cubicBezTo>
                  <a:pt x="4081396" y="3693182"/>
                  <a:pt x="4097323" y="3884176"/>
                  <a:pt x="4087513" y="4076061"/>
                </a:cubicBezTo>
                <a:cubicBezTo>
                  <a:pt x="4081142" y="4198251"/>
                  <a:pt x="4069037" y="4320315"/>
                  <a:pt x="4076938" y="4442632"/>
                </a:cubicBezTo>
                <a:cubicBezTo>
                  <a:pt x="4083270" y="4570925"/>
                  <a:pt x="4081435" y="4699486"/>
                  <a:pt x="4071459" y="4827550"/>
                </a:cubicBezTo>
                <a:cubicBezTo>
                  <a:pt x="4065725" y="4891550"/>
                  <a:pt x="4065725" y="4955945"/>
                  <a:pt x="4071459" y="5019945"/>
                </a:cubicBezTo>
                <a:cubicBezTo>
                  <a:pt x="4087742" y="5176105"/>
                  <a:pt x="4091997" y="5333296"/>
                  <a:pt x="4084200" y="5490104"/>
                </a:cubicBezTo>
                <a:cubicBezTo>
                  <a:pt x="4079740" y="5608217"/>
                  <a:pt x="4071968" y="5726202"/>
                  <a:pt x="4077446" y="5844569"/>
                </a:cubicBezTo>
                <a:cubicBezTo>
                  <a:pt x="4083944" y="5983069"/>
                  <a:pt x="4088914" y="6121696"/>
                  <a:pt x="4082544" y="6260195"/>
                </a:cubicBezTo>
                <a:cubicBezTo>
                  <a:pt x="4075841" y="6408803"/>
                  <a:pt x="4077026" y="6557662"/>
                  <a:pt x="4086110" y="6706145"/>
                </a:cubicBezTo>
                <a:cubicBezTo>
                  <a:pt x="4087467" y="6735616"/>
                  <a:pt x="4087474" y="6765120"/>
                  <a:pt x="4086135" y="6794562"/>
                </a:cubicBezTo>
                <a:lnTo>
                  <a:pt x="4080334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A1965E-A452-4DEF-8069-DDBE7044D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1" y="640823"/>
            <a:ext cx="3103194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En suma, la revisión de la literatura me dice…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9006B4C9-0078-4537-A7B0-62DE25CDA9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8447680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7530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45DEEED-BE3A-4307-800A-45F555B51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5C73706-35AD-4797-B796-D806B8FE5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5006297" cy="6858000"/>
          </a:xfrm>
          <a:custGeom>
            <a:avLst/>
            <a:gdLst>
              <a:gd name="connsiteX0" fmla="*/ 5006297 w 5006297"/>
              <a:gd name="connsiteY0" fmla="*/ 0 h 6858000"/>
              <a:gd name="connsiteX1" fmla="*/ 1229608 w 5006297"/>
              <a:gd name="connsiteY1" fmla="*/ 0 h 6858000"/>
              <a:gd name="connsiteX2" fmla="*/ 1128285 w 5006297"/>
              <a:gd name="connsiteY2" fmla="*/ 156518 h 6858000"/>
              <a:gd name="connsiteX3" fmla="*/ 768782 w 5006297"/>
              <a:gd name="connsiteY3" fmla="*/ 825746 h 6858000"/>
              <a:gd name="connsiteX4" fmla="*/ 743290 w 5006297"/>
              <a:gd name="connsiteY4" fmla="*/ 860183 h 6858000"/>
              <a:gd name="connsiteX5" fmla="*/ 787138 w 5006297"/>
              <a:gd name="connsiteY5" fmla="*/ 756243 h 6858000"/>
              <a:gd name="connsiteX6" fmla="*/ 980544 w 5006297"/>
              <a:gd name="connsiteY6" fmla="*/ 339016 h 6858000"/>
              <a:gd name="connsiteX7" fmla="*/ 1161966 w 5006297"/>
              <a:gd name="connsiteY7" fmla="*/ 0 h 6858000"/>
              <a:gd name="connsiteX8" fmla="*/ 1104491 w 5006297"/>
              <a:gd name="connsiteY8" fmla="*/ 0 h 6858000"/>
              <a:gd name="connsiteX9" fmla="*/ 993044 w 5006297"/>
              <a:gd name="connsiteY9" fmla="*/ 204247 h 6858000"/>
              <a:gd name="connsiteX10" fmla="*/ 494731 w 5006297"/>
              <a:gd name="connsiteY10" fmla="*/ 1375322 h 6858000"/>
              <a:gd name="connsiteX11" fmla="*/ 46559 w 5006297"/>
              <a:gd name="connsiteY11" fmla="*/ 3329787 h 6858000"/>
              <a:gd name="connsiteX12" fmla="*/ 12272 w 5006297"/>
              <a:gd name="connsiteY12" fmla="*/ 4352595 h 6858000"/>
              <a:gd name="connsiteX13" fmla="*/ 171094 w 5006297"/>
              <a:gd name="connsiteY13" fmla="*/ 5544543 h 6858000"/>
              <a:gd name="connsiteX14" fmla="*/ 538125 w 5006297"/>
              <a:gd name="connsiteY14" fmla="*/ 6816123 h 6858000"/>
              <a:gd name="connsiteX15" fmla="*/ 555724 w 5006297"/>
              <a:gd name="connsiteY15" fmla="*/ 6858000 h 6858000"/>
              <a:gd name="connsiteX16" fmla="*/ 608303 w 5006297"/>
              <a:gd name="connsiteY16" fmla="*/ 6858000 h 6858000"/>
              <a:gd name="connsiteX17" fmla="*/ 596366 w 5006297"/>
              <a:gd name="connsiteY17" fmla="*/ 6829337 h 6858000"/>
              <a:gd name="connsiteX18" fmla="*/ 364843 w 5006297"/>
              <a:gd name="connsiteY18" fmla="*/ 6132604 h 6858000"/>
              <a:gd name="connsiteX19" fmla="*/ 213412 w 5006297"/>
              <a:gd name="connsiteY19" fmla="*/ 5505676 h 6858000"/>
              <a:gd name="connsiteX20" fmla="*/ 211628 w 5006297"/>
              <a:gd name="connsiteY20" fmla="*/ 5472254 h 6858000"/>
              <a:gd name="connsiteX21" fmla="*/ 311945 w 5006297"/>
              <a:gd name="connsiteY21" fmla="*/ 5821167 h 6858000"/>
              <a:gd name="connsiteX22" fmla="*/ 623960 w 5006297"/>
              <a:gd name="connsiteY22" fmla="*/ 6658826 h 6858000"/>
              <a:gd name="connsiteX23" fmla="*/ 717350 w 5006297"/>
              <a:gd name="connsiteY23" fmla="*/ 6858000 h 6858000"/>
              <a:gd name="connsiteX24" fmla="*/ 5006297 w 5006297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006297" h="6858000">
                <a:moveTo>
                  <a:pt x="5006297" y="0"/>
                </a:moveTo>
                <a:lnTo>
                  <a:pt x="1229608" y="0"/>
                </a:lnTo>
                <a:lnTo>
                  <a:pt x="1128285" y="156518"/>
                </a:lnTo>
                <a:cubicBezTo>
                  <a:pt x="996915" y="372642"/>
                  <a:pt x="877575" y="596029"/>
                  <a:pt x="768782" y="825746"/>
                </a:cubicBezTo>
                <a:cubicBezTo>
                  <a:pt x="763429" y="839224"/>
                  <a:pt x="754646" y="851089"/>
                  <a:pt x="743290" y="860183"/>
                </a:cubicBezTo>
                <a:cubicBezTo>
                  <a:pt x="757948" y="825621"/>
                  <a:pt x="772224" y="790805"/>
                  <a:pt x="787138" y="756243"/>
                </a:cubicBezTo>
                <a:cubicBezTo>
                  <a:pt x="848067" y="615114"/>
                  <a:pt x="912406" y="475964"/>
                  <a:pt x="980544" y="339016"/>
                </a:cubicBezTo>
                <a:lnTo>
                  <a:pt x="1161966" y="0"/>
                </a:lnTo>
                <a:lnTo>
                  <a:pt x="1104491" y="0"/>
                </a:lnTo>
                <a:lnTo>
                  <a:pt x="993044" y="204247"/>
                </a:lnTo>
                <a:cubicBezTo>
                  <a:pt x="798291" y="579761"/>
                  <a:pt x="634561" y="971401"/>
                  <a:pt x="494731" y="1375322"/>
                </a:cubicBezTo>
                <a:cubicBezTo>
                  <a:pt x="277072" y="2009491"/>
                  <a:pt x="126862" y="2664550"/>
                  <a:pt x="46559" y="3329787"/>
                </a:cubicBezTo>
                <a:cubicBezTo>
                  <a:pt x="4496" y="3670216"/>
                  <a:pt x="-14242" y="4010141"/>
                  <a:pt x="12272" y="4352595"/>
                </a:cubicBezTo>
                <a:cubicBezTo>
                  <a:pt x="43627" y="4752907"/>
                  <a:pt x="90918" y="5150814"/>
                  <a:pt x="171094" y="5544543"/>
                </a:cubicBezTo>
                <a:cubicBezTo>
                  <a:pt x="259524" y="5979227"/>
                  <a:pt x="379573" y="6403657"/>
                  <a:pt x="538125" y="6816123"/>
                </a:cubicBezTo>
                <a:lnTo>
                  <a:pt x="555724" y="6858000"/>
                </a:lnTo>
                <a:lnTo>
                  <a:pt x="608303" y="6858000"/>
                </a:lnTo>
                <a:lnTo>
                  <a:pt x="596366" y="6829337"/>
                </a:lnTo>
                <a:cubicBezTo>
                  <a:pt x="508696" y="6602484"/>
                  <a:pt x="431985" y="6369981"/>
                  <a:pt x="364843" y="6132604"/>
                </a:cubicBezTo>
                <a:cubicBezTo>
                  <a:pt x="306463" y="5925865"/>
                  <a:pt x="263378" y="5714822"/>
                  <a:pt x="213412" y="5505676"/>
                </a:cubicBezTo>
                <a:cubicBezTo>
                  <a:pt x="212231" y="5494574"/>
                  <a:pt x="211637" y="5483421"/>
                  <a:pt x="211628" y="5472254"/>
                </a:cubicBezTo>
                <a:cubicBezTo>
                  <a:pt x="248210" y="5599108"/>
                  <a:pt x="277401" y="5710897"/>
                  <a:pt x="311945" y="5821167"/>
                </a:cubicBezTo>
                <a:cubicBezTo>
                  <a:pt x="401999" y="6108329"/>
                  <a:pt x="505868" y="6387643"/>
                  <a:pt x="623960" y="6658826"/>
                </a:cubicBezTo>
                <a:lnTo>
                  <a:pt x="717350" y="6858000"/>
                </a:lnTo>
                <a:lnTo>
                  <a:pt x="5006297" y="6858000"/>
                </a:lnTo>
                <a:close/>
              </a:path>
            </a:pathLst>
          </a:custGeom>
          <a:solidFill>
            <a:schemeClr val="accent1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28EBDA0-AA40-46EF-8C84-39BE661D2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644652"/>
            <a:ext cx="3182112" cy="556869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3100">
                <a:solidFill>
                  <a:srgbClr val="FFFFFF"/>
                </a:solidFill>
              </a:rPr>
              <a:t>ALGUNOS TIPS PARA LA BÚSQUEDA BIBLIOGRÁFICA</a:t>
            </a:r>
            <a:endParaRPr lang="es-CR" sz="3100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0702EA-607E-486B-9DE3-0ADEAB9C6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4350" y="644652"/>
            <a:ext cx="5856401" cy="556869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R" b="1"/>
              <a:t>¿Qué buscar?</a:t>
            </a:r>
            <a:r>
              <a:rPr lang="es-CR"/>
              <a:t>: Por lo general se buscan artículos de revistas científicas, libros y manuales especializados, que se encuentran en las bibliotecas académicas o en bases de datos especializadas en la red. </a:t>
            </a:r>
          </a:p>
          <a:p>
            <a:pPr marL="0" indent="0">
              <a:buNone/>
            </a:pPr>
            <a:r>
              <a:rPr lang="es-CR" b="1"/>
              <a:t>Para la búsqueda establecer:</a:t>
            </a:r>
          </a:p>
          <a:p>
            <a:pPr marL="0" indent="0">
              <a:buNone/>
            </a:pPr>
            <a:endParaRPr lang="es-CR" b="1"/>
          </a:p>
          <a:p>
            <a:pPr lvl="1"/>
            <a:r>
              <a:rPr lang="es-CR" b="1"/>
              <a:t>Conceptos claves</a:t>
            </a:r>
          </a:p>
          <a:p>
            <a:pPr lvl="1"/>
            <a:r>
              <a:rPr lang="es-CR" b="1"/>
              <a:t>Las teorías e hipótesis clave</a:t>
            </a:r>
          </a:p>
          <a:p>
            <a:pPr lvl="1"/>
            <a:r>
              <a:rPr lang="es-CR" b="1"/>
              <a:t>Los autores clave (los más citados)</a:t>
            </a:r>
          </a:p>
          <a:p>
            <a:endParaRPr lang="es-CR"/>
          </a:p>
          <a:p>
            <a:pPr marL="0" indent="0">
              <a:buNone/>
            </a:pPr>
            <a:r>
              <a:rPr lang="es-CR" b="1"/>
              <a:t>Y delimite otra vez su tema de investigación</a:t>
            </a:r>
          </a:p>
          <a:p>
            <a:pPr marL="0" indent="0">
              <a:buNone/>
            </a:pPr>
            <a:endParaRPr lang="es-CR"/>
          </a:p>
          <a:p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041561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Marcador de contenido 2">
            <a:extLst>
              <a:ext uri="{FF2B5EF4-FFF2-40B4-BE49-F238E27FC236}">
                <a16:creationId xmlns:a16="http://schemas.microsoft.com/office/drawing/2014/main" id="{B93D7CF3-B7EA-88FB-D6B7-D52C76BD98C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4400" y="2727296"/>
          <a:ext cx="6346209" cy="3449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Biblioteca pública desenfocada abstracta con estanterías">
            <a:extLst>
              <a:ext uri="{FF2B5EF4-FFF2-40B4-BE49-F238E27FC236}">
                <a16:creationId xmlns:a16="http://schemas.microsoft.com/office/drawing/2014/main" id="{5D1A60D2-44A9-4072-A6BD-FCE7E64222C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8630" r="30971" b="1"/>
          <a:stretch/>
        </p:blipFill>
        <p:spPr>
          <a:xfrm>
            <a:off x="7924800" y="2128964"/>
            <a:ext cx="4279142" cy="472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826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7127B9-8CDA-0ED4-267C-591AC8339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</a:t>
            </a:r>
            <a:endParaRPr lang="es-CR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5771E92-A116-4FAD-2B3E-3D07455EEC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82121" y="2043113"/>
            <a:ext cx="4380157" cy="425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676824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Modern Love"/>
        <a:ea typeface=""/>
        <a:cs typeface=""/>
      </a:majorFont>
      <a:minorFont>
        <a:latin typeface="The Ha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b030992-a9fa-4e05-ac96-2d1701866a4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57CD90AA7FA94E84E7325DFA92FE34" ma:contentTypeVersion="16" ma:contentTypeDescription="Create a new document." ma:contentTypeScope="" ma:versionID="a356c228549b38f71b3cd900566956a1">
  <xsd:schema xmlns:xsd="http://www.w3.org/2001/XMLSchema" xmlns:xs="http://www.w3.org/2001/XMLSchema" xmlns:p="http://schemas.microsoft.com/office/2006/metadata/properties" xmlns:ns3="02a64aca-821e-47a6-95c8-65a31a457e92" xmlns:ns4="db030992-a9fa-4e05-ac96-2d1701866a4a" targetNamespace="http://schemas.microsoft.com/office/2006/metadata/properties" ma:root="true" ma:fieldsID="63977e8aa4f8f58b3dfde5b66b92dcf5" ns3:_="" ns4:_="">
    <xsd:import namespace="02a64aca-821e-47a6-95c8-65a31a457e92"/>
    <xsd:import namespace="db030992-a9fa-4e05-ac96-2d1701866a4a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MediaLengthInSeconds" minOccurs="0"/>
                <xsd:element ref="ns4:MediaServiceObjectDetectorVersions" minOccurs="0"/>
                <xsd:element ref="ns4:_activity" minOccurs="0"/>
                <xsd:element ref="ns4:MediaServiceSearchPropertie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a64aca-821e-47a6-95c8-65a31a457e9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030992-a9fa-4e05-ac96-2d1701866a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7531019-C27E-4621-97DB-F98E93C97461}">
  <ds:schemaRefs>
    <ds:schemaRef ds:uri="http://schemas.microsoft.com/office/2006/documentManagement/types"/>
    <ds:schemaRef ds:uri="http://purl.org/dc/elements/1.1/"/>
    <ds:schemaRef ds:uri="http://www.w3.org/XML/1998/namespace"/>
    <ds:schemaRef ds:uri="02a64aca-821e-47a6-95c8-65a31a457e92"/>
    <ds:schemaRef ds:uri="db030992-a9fa-4e05-ac96-2d1701866a4a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3BCCCB7-5D6E-404D-B179-8B28613D6B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a64aca-821e-47a6-95c8-65a31a457e92"/>
    <ds:schemaRef ds:uri="db030992-a9fa-4e05-ac96-2d1701866a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E57FEB1-6EFF-40FB-82CC-3F38ECF505E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8919</TotalTime>
  <Words>541</Words>
  <Application>Microsoft Office PowerPoint</Application>
  <PresentationFormat>Panorámica</PresentationFormat>
  <Paragraphs>42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Aptos</vt:lpstr>
      <vt:lpstr>Arial</vt:lpstr>
      <vt:lpstr>Modern Love</vt:lpstr>
      <vt:lpstr>Segoe UI Light</vt:lpstr>
      <vt:lpstr>The Hand</vt:lpstr>
      <vt:lpstr>SketchyVTI</vt:lpstr>
      <vt:lpstr>Enfoque cuantitativo</vt:lpstr>
      <vt:lpstr>Enfoque cuantitativo</vt:lpstr>
      <vt:lpstr>Presentación de PowerPoint</vt:lpstr>
      <vt:lpstr>Enfoque cuantitativo</vt:lpstr>
      <vt:lpstr>La revisión literaria es fundamental para el desarrollo de proyectos de investigación </vt:lpstr>
      <vt:lpstr>Paradoja</vt:lpstr>
      <vt:lpstr>5 funciones importantes de la revisión de antecedentes</vt:lpstr>
      <vt:lpstr>En suma, la revisión de la literatura me dice…</vt:lpstr>
      <vt:lpstr>ALGUNOS TIPS PARA LA BÚSQUEDA BIBLIOGRÁFICA</vt:lpstr>
      <vt:lpstr>Presentación de PowerPoint</vt:lpstr>
      <vt:lpstr>Ejemplo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Eugenia Gallardo Allen</dc:creator>
  <cp:lastModifiedBy>Eugenia Gallardo Allen</cp:lastModifiedBy>
  <cp:revision>29</cp:revision>
  <dcterms:created xsi:type="dcterms:W3CDTF">2026-03-03T16:20:31Z</dcterms:created>
  <dcterms:modified xsi:type="dcterms:W3CDTF">2026-10-14T18:13:16Z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0x010100D757CD90AA7FA94E84E7325DFA92FE34</vt:lpwstr>
  </property>
</Properties>
</file>